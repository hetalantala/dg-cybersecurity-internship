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8" r:id="rId4"/>
    <p:sldId id="270" r:id="rId5"/>
    <p:sldId id="259" r:id="rId6"/>
    <p:sldId id="271" r:id="rId7"/>
    <p:sldId id="260" r:id="rId8"/>
    <p:sldId id="261" r:id="rId9"/>
    <p:sldId id="272" r:id="rId10"/>
    <p:sldId id="276" r:id="rId11"/>
    <p:sldId id="262" r:id="rId12"/>
    <p:sldId id="273" r:id="rId13"/>
    <p:sldId id="277" r:id="rId14"/>
    <p:sldId id="263" r:id="rId15"/>
    <p:sldId id="278" r:id="rId16"/>
    <p:sldId id="264" r:id="rId17"/>
    <p:sldId id="279" r:id="rId18"/>
    <p:sldId id="265" r:id="rId19"/>
    <p:sldId id="274" r:id="rId20"/>
    <p:sldId id="267" r:id="rId21"/>
    <p:sldId id="268" r:id="rId22"/>
    <p:sldId id="269" r:id="rId23"/>
    <p:sldId id="275"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endParaRPr lang="en-US" sz="8000" dirty="0">
              <a:solidFill>
                <a:schemeClr val="tx1"/>
              </a:solidFill>
              <a:effectLst/>
            </a:endParaRP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endParaRPr lang="en-US" sz="8000" dirty="0">
              <a:solidFill>
                <a:schemeClr val="tx1"/>
              </a:solidFill>
              <a:effectLst/>
            </a:endParaRP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endParaRPr lang="en-US"/>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192.168.56.102/" TargetMode="Externa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mailto:user1@mydomain.local" TargetMode="External"/></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security.appspot.com/vsftpd.html" TargetMode="External"/><Relationship Id="rId3" Type="http://schemas.openxmlformats.org/officeDocument/2006/relationships/hyperlink" Target="http://www.postfix.org/documentation.html" TargetMode="External"/><Relationship Id="rId2" Type="http://schemas.openxmlformats.org/officeDocument/2006/relationships/hyperlink" Target="https://bind9.readthedocs.io/" TargetMode="External"/><Relationship Id="rId1" Type="http://schemas.openxmlformats.org/officeDocument/2006/relationships/hyperlink" Target="https://httpd.apache.or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2133" y="1508289"/>
            <a:ext cx="7704667" cy="4491527"/>
          </a:xfrm>
        </p:spPr>
        <p:txBody>
          <a:bodyPr>
            <a:normAutofit/>
          </a:bodyPr>
          <a:lstStyle/>
          <a:p>
            <a:pPr marL="0" lvl="0" indent="0" defTabSz="914400" eaLnBrk="0" fontAlgn="base" hangingPunct="0">
              <a:spcBef>
                <a:spcPct val="0"/>
              </a:spcBef>
              <a:spcAft>
                <a:spcPct val="0"/>
              </a:spcAft>
              <a:buNone/>
            </a:pPr>
            <a:r>
              <a:rPr lang="en-US" altLang="en-US" sz="2800" b="1" dirty="0">
                <a:latin typeface="Calibri" panose="020F0502020204030204" pitchFamily="34" charset="0"/>
                <a:ea typeface="Calibri" panose="020F0502020204030204" pitchFamily="34" charset="0"/>
                <a:cs typeface="Times New Roman" panose="02020603050405020304" pitchFamily="18" charset="0"/>
              </a:rPr>
              <a:t>Project Title:</a:t>
            </a:r>
            <a:br>
              <a:rPr lang="en-US" altLang="en-US" dirty="0">
                <a:latin typeface="Calibri" panose="020F0502020204030204" pitchFamily="34" charset="0"/>
                <a:ea typeface="Calibri" panose="020F0502020204030204" pitchFamily="34" charset="0"/>
                <a:cs typeface="Times New Roman" panose="02020603050405020304" pitchFamily="18" charset="0"/>
              </a:rPr>
            </a:br>
            <a:r>
              <a:rPr lang="en-US" altLang="en-US" sz="2400" dirty="0">
                <a:latin typeface="Calibri" panose="020F0502020204030204" pitchFamily="34" charset="0"/>
                <a:ea typeface="Calibri" panose="020F0502020204030204" pitchFamily="34" charset="0"/>
                <a:cs typeface="Times New Roman" panose="02020603050405020304" pitchFamily="18" charset="0"/>
              </a:rPr>
              <a:t>Final Cybersecurity Virtual Lab – Multi-Service Deployment &amp; Hardening</a:t>
            </a: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None/>
            </a:pP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None/>
            </a:pPr>
            <a:endParaRPr lang="en-US" altLang="en-US" sz="600" dirty="0"/>
          </a:p>
          <a:p>
            <a:pPr marL="0" lvl="0" indent="0" defTabSz="914400" eaLnBrk="0" fontAlgn="base" hangingPunct="0">
              <a:spcBef>
                <a:spcPct val="0"/>
              </a:spcBef>
              <a:spcAft>
                <a:spcPct val="0"/>
              </a:spcAft>
              <a:buNone/>
            </a:pPr>
            <a:r>
              <a:rPr lang="en-US" altLang="en-US" sz="2800" b="1" dirty="0">
                <a:latin typeface="Calibri" panose="020F0502020204030204" pitchFamily="34" charset="0"/>
                <a:ea typeface="Calibri" panose="020F0502020204030204" pitchFamily="34" charset="0"/>
                <a:cs typeface="Times New Roman" panose="02020603050405020304" pitchFamily="18" charset="0"/>
              </a:rPr>
              <a:t>Submitted By:</a:t>
            </a:r>
            <a:br>
              <a:rPr lang="en-US" altLang="en-US" dirty="0">
                <a:latin typeface="Calibri" panose="020F0502020204030204" pitchFamily="34" charset="0"/>
                <a:ea typeface="Calibri" panose="020F0502020204030204" pitchFamily="34" charset="0"/>
                <a:cs typeface="Times New Roman" panose="02020603050405020304" pitchFamily="18" charset="0"/>
              </a:rPr>
            </a:br>
            <a:r>
              <a:rPr lang="en-US" altLang="en-US" sz="2400" dirty="0">
                <a:latin typeface="Calibri" panose="020F0502020204030204" pitchFamily="34" charset="0"/>
                <a:ea typeface="Calibri" panose="020F0502020204030204" pitchFamily="34" charset="0"/>
                <a:cs typeface="Times New Roman" panose="02020603050405020304" pitchFamily="18" charset="0"/>
              </a:rPr>
              <a:t>Hetal Antala</a:t>
            </a:r>
            <a:endParaRPr lang="en-US" altLang="en-US" sz="24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None/>
            </a:pPr>
            <a:endParaRPr lang="en-US" altLang="en-US" sz="600" dirty="0"/>
          </a:p>
          <a:p>
            <a:pPr marL="0" lvl="0" indent="0" defTabSz="914400" eaLnBrk="0" fontAlgn="base" hangingPunct="0">
              <a:spcBef>
                <a:spcPct val="0"/>
              </a:spcBef>
              <a:spcAft>
                <a:spcPct val="0"/>
              </a:spcAft>
              <a:buNone/>
            </a:pPr>
            <a:endParaRPr lang="en-US" altLang="en-US" sz="800" dirty="0"/>
          </a:p>
          <a:p>
            <a:pPr marL="0" lvl="0" indent="0" defTabSz="914400" eaLnBrk="0" fontAlgn="base" hangingPunct="0">
              <a:spcBef>
                <a:spcPct val="0"/>
              </a:spcBef>
              <a:spcAft>
                <a:spcPct val="0"/>
              </a:spcAft>
              <a:buNone/>
            </a:pPr>
            <a:r>
              <a:rPr lang="en-US" altLang="en-US" sz="2800" b="1" dirty="0">
                <a:latin typeface="Calibri" panose="020F0502020204030204" pitchFamily="34" charset="0"/>
                <a:ea typeface="Calibri" panose="020F0502020204030204" pitchFamily="34" charset="0"/>
                <a:cs typeface="Times New Roman" panose="02020603050405020304" pitchFamily="18" charset="0"/>
              </a:rPr>
              <a:t>Submission Date:</a:t>
            </a:r>
            <a:endParaRPr lang="en-US" altLang="en-US" sz="700" dirty="0"/>
          </a:p>
          <a:p>
            <a:pPr marL="0" lvl="0" indent="0" defTabSz="914400" eaLnBrk="0" fontAlgn="base" hangingPunct="0">
              <a:spcBef>
                <a:spcPct val="0"/>
              </a:spcBef>
              <a:spcAft>
                <a:spcPct val="0"/>
              </a:spcAft>
              <a:buNone/>
            </a:pPr>
            <a:r>
              <a:rPr lang="en-US" altLang="en-US" sz="2400" b="1" dirty="0">
                <a:latin typeface="Calibri" panose="020F0502020204030204" pitchFamily="34" charset="0"/>
                <a:ea typeface="Calibri" panose="020F0502020204030204" pitchFamily="34" charset="0"/>
                <a:cs typeface="Times New Roman" panose="02020603050405020304" pitchFamily="18" charset="0"/>
              </a:rPr>
              <a:t>16/12/2025</a:t>
            </a:r>
            <a:endParaRPr lang="en-US" altLang="en-US" sz="600" dirty="0"/>
          </a:p>
          <a:p>
            <a:endParaRPr dirty="0"/>
          </a:p>
        </p:txBody>
      </p:sp>
      <p:sp>
        <p:nvSpPr>
          <p:cNvPr id="4"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en-US"/>
          </a:p>
        </p:txBody>
      </p:sp>
      <p:pic>
        <p:nvPicPr>
          <p:cNvPr id="1025" name="Pictur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136092" y="313745"/>
            <a:ext cx="1696824" cy="10888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6578"/>
          </a:xfrm>
        </p:spPr>
        <p:txBody>
          <a:bodyPr/>
          <a:lstStyle/>
          <a:p>
            <a:r>
              <a:rPr dirty="0"/>
              <a:t>Introduction</a:t>
            </a:r>
            <a:endParaRPr dirty="0"/>
          </a:p>
        </p:txBody>
      </p:sp>
      <p:sp>
        <p:nvSpPr>
          <p:cNvPr id="3" name="Content Placeholder 2"/>
          <p:cNvSpPr>
            <a:spLocks noGrp="1"/>
          </p:cNvSpPr>
          <p:nvPr>
            <p:ph idx="1"/>
          </p:nvPr>
        </p:nvSpPr>
        <p:spPr>
          <a:xfrm>
            <a:off x="1376312" y="1263192"/>
            <a:ext cx="7310487" cy="5222449"/>
          </a:xfrm>
        </p:spPr>
        <p:txBody>
          <a:bodyPr>
            <a:normAutofit fontScale="70000" lnSpcReduction="20000"/>
          </a:bodyPr>
          <a:lstStyle/>
          <a:p>
            <a:pPr marL="0" indent="0">
              <a:buNone/>
            </a:pPr>
            <a:r>
              <a:rPr lang="en-US" sz="1600" dirty="0"/>
              <a:t>The purpose of this project is to:</a:t>
            </a:r>
            <a:endParaRPr lang="en-US" sz="1600" dirty="0"/>
          </a:p>
          <a:p>
            <a:pPr lvl="0"/>
            <a:r>
              <a:rPr lang="en-US" sz="1600" dirty="0"/>
              <a:t>Build a fully functional </a:t>
            </a:r>
            <a:r>
              <a:rPr lang="en-US" sz="1600" b="1" dirty="0"/>
              <a:t>multi-service network environment</a:t>
            </a:r>
            <a:r>
              <a:rPr lang="en-US" sz="1600" dirty="0"/>
              <a:t> using VirtualBox.</a:t>
            </a:r>
            <a:endParaRPr lang="en-US" sz="1600" dirty="0"/>
          </a:p>
          <a:p>
            <a:pPr lvl="0"/>
            <a:r>
              <a:rPr lang="en-US" sz="1600" dirty="0"/>
              <a:t>Deploy essential services such as the Web Server, DNS Server, Mail Server, and FTP Server.</a:t>
            </a:r>
            <a:endParaRPr lang="en-US" sz="1600" dirty="0"/>
          </a:p>
          <a:p>
            <a:pPr lvl="0"/>
            <a:r>
              <a:rPr lang="en-US" sz="1600" dirty="0"/>
              <a:t>Understand how these services work at the network and system level.</a:t>
            </a:r>
            <a:endParaRPr lang="en-US" sz="1600" dirty="0"/>
          </a:p>
          <a:p>
            <a:pPr lvl="0"/>
            <a:r>
              <a:rPr lang="en-US" sz="1600" dirty="0"/>
              <a:t>Apply </a:t>
            </a:r>
            <a:r>
              <a:rPr lang="en-US" sz="1600" b="1" dirty="0"/>
              <a:t>security best practices</a:t>
            </a:r>
            <a:r>
              <a:rPr lang="en-US" sz="1600" dirty="0"/>
              <a:t> including firewall rules, port management, SSH modification, user restrictions, and fail2ban.</a:t>
            </a:r>
            <a:endParaRPr lang="en-US" sz="1600" dirty="0"/>
          </a:p>
          <a:p>
            <a:pPr lvl="0"/>
            <a:r>
              <a:rPr lang="en-US" sz="1600" dirty="0"/>
              <a:t>Analyze server behavior using tools like </a:t>
            </a:r>
            <a:r>
              <a:rPr lang="en-US" sz="1600" b="1" dirty="0"/>
              <a:t>Nmap</a:t>
            </a:r>
            <a:r>
              <a:rPr lang="en-US" sz="1600" dirty="0"/>
              <a:t>, </a:t>
            </a:r>
            <a:r>
              <a:rPr lang="en-US" sz="1600" b="1" dirty="0" err="1"/>
              <a:t>nslookup</a:t>
            </a:r>
            <a:r>
              <a:rPr lang="en-US" sz="1600" dirty="0"/>
              <a:t>, </a:t>
            </a:r>
            <a:r>
              <a:rPr lang="en-US" sz="1600" b="1" dirty="0"/>
              <a:t>dig</a:t>
            </a:r>
            <a:r>
              <a:rPr lang="en-US" sz="1600" dirty="0"/>
              <a:t>, and system logs.</a:t>
            </a:r>
            <a:endParaRPr lang="en-US" sz="1600" dirty="0"/>
          </a:p>
          <a:p>
            <a:pPr marL="0" indent="0">
              <a:buNone/>
            </a:pPr>
            <a:endParaRPr lang="en-US" sz="1600" dirty="0"/>
          </a:p>
          <a:p>
            <a:pPr marL="0" indent="0">
              <a:buNone/>
            </a:pPr>
            <a:r>
              <a:rPr lang="en-US" sz="1600" dirty="0"/>
              <a:t>The following services were installed, configured, tested, and secured:</a:t>
            </a:r>
            <a:endParaRPr lang="en-US" sz="1600" dirty="0"/>
          </a:p>
          <a:p>
            <a:pPr lvl="0"/>
            <a:r>
              <a:rPr lang="en-US" sz="1600" b="1" dirty="0"/>
              <a:t>Web Server (Apache2 + HTTPS/SSL)</a:t>
            </a:r>
            <a:br>
              <a:rPr lang="en-US" sz="1600" dirty="0"/>
            </a:br>
            <a:r>
              <a:rPr lang="en-US" sz="1600" dirty="0"/>
              <a:t>Used for hosting web content and securing communication with SSL certificates.</a:t>
            </a:r>
            <a:endParaRPr lang="en-US" sz="1600" dirty="0"/>
          </a:p>
          <a:p>
            <a:pPr lvl="0"/>
            <a:r>
              <a:rPr lang="en-US" sz="1600" b="1" dirty="0"/>
              <a:t>DNS Server (Bind9)</a:t>
            </a:r>
            <a:br>
              <a:rPr lang="en-US" sz="1600" dirty="0"/>
            </a:br>
            <a:r>
              <a:rPr lang="en-US" sz="1600" dirty="0"/>
              <a:t>Configured for domain name resolution and zone management.</a:t>
            </a:r>
            <a:endParaRPr lang="en-US" sz="1600" dirty="0"/>
          </a:p>
          <a:p>
            <a:pPr lvl="0"/>
            <a:r>
              <a:rPr lang="en-US" sz="1600" b="1" dirty="0"/>
              <a:t>Mail Server (Postfix)</a:t>
            </a:r>
            <a:br>
              <a:rPr lang="en-US" sz="1600" dirty="0"/>
            </a:br>
            <a:r>
              <a:rPr lang="en-US" sz="1600" dirty="0"/>
              <a:t>Set up to send and receive local mails within the network.</a:t>
            </a:r>
            <a:endParaRPr lang="en-US" sz="1600" dirty="0"/>
          </a:p>
          <a:p>
            <a:pPr lvl="0"/>
            <a:r>
              <a:rPr lang="en-US" sz="1600" b="1" dirty="0"/>
              <a:t>FTP Server (vsftpd)</a:t>
            </a:r>
            <a:br>
              <a:rPr lang="en-US" sz="1600" dirty="0"/>
            </a:br>
            <a:r>
              <a:rPr lang="en-US" sz="1600" dirty="0"/>
              <a:t>Deployed for secure file transfer with disabled anonymous login and user isolation.</a:t>
            </a:r>
            <a:endParaRPr lang="en-US" sz="1600" dirty="0"/>
          </a:p>
          <a:p>
            <a:pPr lvl="0"/>
            <a:endParaRPr lang="en-US" sz="1600" dirty="0"/>
          </a:p>
          <a:p>
            <a:pPr marL="0" indent="0">
              <a:buNone/>
            </a:pPr>
            <a:r>
              <a:rPr lang="en-US" sz="1600" dirty="0"/>
              <a:t>Each service was assigned a specific IP address inside the virtual network:</a:t>
            </a:r>
            <a:endParaRPr lang="en-US" sz="1600" dirty="0"/>
          </a:p>
          <a:p>
            <a:pPr lvl="0"/>
            <a:r>
              <a:rPr lang="en-US" sz="1600" b="1" dirty="0"/>
              <a:t>Web Server:</a:t>
            </a:r>
            <a:r>
              <a:rPr lang="en-US" sz="1600" dirty="0"/>
              <a:t> 192.168.56.102</a:t>
            </a:r>
            <a:endParaRPr lang="en-US" sz="1600" dirty="0"/>
          </a:p>
          <a:p>
            <a:pPr lvl="0"/>
            <a:r>
              <a:rPr lang="en-US" sz="1600" b="1" dirty="0"/>
              <a:t>DNS Server:</a:t>
            </a:r>
            <a:r>
              <a:rPr lang="en-US" sz="1600" dirty="0"/>
              <a:t> 192.168.56.105</a:t>
            </a:r>
            <a:endParaRPr lang="en-US" sz="1600" dirty="0"/>
          </a:p>
          <a:p>
            <a:pPr lvl="0"/>
            <a:r>
              <a:rPr lang="en-US" sz="1600" b="1" dirty="0"/>
              <a:t>Mail Server:</a:t>
            </a:r>
            <a:r>
              <a:rPr lang="en-US" sz="1600" dirty="0"/>
              <a:t> 192.168.56.107</a:t>
            </a:r>
            <a:endParaRPr lang="en-US" sz="1600" dirty="0"/>
          </a:p>
          <a:p>
            <a:pPr lvl="0"/>
            <a:r>
              <a:rPr lang="en-US" sz="1600" b="1" dirty="0"/>
              <a:t>FTP Server:</a:t>
            </a:r>
            <a:r>
              <a:rPr lang="en-US" sz="1600" dirty="0"/>
              <a:t> 192.168.56.101</a:t>
            </a:r>
            <a:endParaRPr lang="en-US" sz="1600" dirty="0"/>
          </a:p>
          <a:p>
            <a:pPr marL="0" indent="0">
              <a:buNone/>
            </a:pP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82044" y="1169199"/>
            <a:ext cx="7484883" cy="4247317"/>
          </a:xfrm>
          <a:prstGeom prst="rect">
            <a:avLst/>
          </a:prstGeom>
          <a:noFill/>
        </p:spPr>
        <p:txBody>
          <a:bodyPr wrap="square">
            <a:spAutoFit/>
          </a:bodyPr>
          <a:lstStyle/>
          <a:p>
            <a:r>
              <a:rPr lang="en-US" b="1" dirty="0"/>
              <a:t>Importance of Cybersecurity &amp; Hardening:</a:t>
            </a:r>
            <a:endParaRPr lang="en-US" dirty="0"/>
          </a:p>
          <a:p>
            <a:r>
              <a:rPr lang="en-US" dirty="0"/>
              <a:t>Security hardening helps:</a:t>
            </a:r>
            <a:endParaRPr lang="en-US" dirty="0"/>
          </a:p>
          <a:p>
            <a:pPr lvl="0"/>
            <a:r>
              <a:rPr lang="en-US" dirty="0"/>
              <a:t>Protect services from unauthorized access</a:t>
            </a:r>
            <a:endParaRPr lang="en-US" dirty="0"/>
          </a:p>
          <a:p>
            <a:pPr lvl="0"/>
            <a:r>
              <a:rPr lang="en-US" dirty="0"/>
              <a:t>Prevent brute-force attacks</a:t>
            </a:r>
            <a:endParaRPr lang="en-US" dirty="0"/>
          </a:p>
          <a:p>
            <a:pPr lvl="0"/>
            <a:r>
              <a:rPr lang="en-US" dirty="0"/>
              <a:t>Limit network exposure</a:t>
            </a:r>
            <a:endParaRPr lang="en-US" dirty="0"/>
          </a:p>
          <a:p>
            <a:pPr lvl="0"/>
            <a:r>
              <a:rPr lang="en-US" dirty="0"/>
              <a:t>Strengthen server configurations</a:t>
            </a:r>
            <a:endParaRPr lang="en-US" dirty="0"/>
          </a:p>
          <a:p>
            <a:pPr lvl="0"/>
            <a:r>
              <a:rPr lang="en-US" dirty="0"/>
              <a:t>Improve overall resilience against cyber-attacks</a:t>
            </a:r>
            <a:endParaRPr lang="en-US" dirty="0"/>
          </a:p>
          <a:p>
            <a:endParaRPr lang="en-US" dirty="0"/>
          </a:p>
          <a:p>
            <a:endParaRPr lang="en-US" dirty="0"/>
          </a:p>
          <a:p>
            <a:r>
              <a:rPr lang="en-US" dirty="0"/>
              <a:t>In this project, several key hardening techniques were implemented:</a:t>
            </a:r>
            <a:endParaRPr lang="en-US" dirty="0"/>
          </a:p>
          <a:p>
            <a:pPr lvl="0"/>
            <a:r>
              <a:rPr lang="en-US" b="1" dirty="0"/>
              <a:t>UFW firewall</a:t>
            </a:r>
            <a:r>
              <a:rPr lang="en-US" dirty="0"/>
              <a:t> configuration</a:t>
            </a:r>
            <a:endParaRPr lang="en-US" dirty="0"/>
          </a:p>
          <a:p>
            <a:pPr lvl="0"/>
            <a:r>
              <a:rPr lang="en-US" b="1" dirty="0"/>
              <a:t>Fail2Ban</a:t>
            </a:r>
            <a:r>
              <a:rPr lang="en-US" dirty="0"/>
              <a:t> to prevent repeated login attacks</a:t>
            </a:r>
            <a:endParaRPr lang="en-US" dirty="0"/>
          </a:p>
          <a:p>
            <a:pPr lvl="0"/>
            <a:r>
              <a:rPr lang="en-US" b="1" dirty="0"/>
              <a:t>SSH hardening</a:t>
            </a:r>
            <a:r>
              <a:rPr lang="en-US" dirty="0"/>
              <a:t> (disable root login, change port, allow specific users)</a:t>
            </a:r>
            <a:endParaRPr lang="en-US" dirty="0"/>
          </a:p>
          <a:p>
            <a:pPr lvl="0"/>
            <a:r>
              <a:rPr lang="en-US" b="1" dirty="0"/>
              <a:t>FTP security</a:t>
            </a:r>
            <a:r>
              <a:rPr lang="en-US" dirty="0"/>
              <a:t> (disable anonymous login, enable user isolation)</a:t>
            </a:r>
            <a:endParaRPr lang="en-US" dirty="0"/>
          </a:p>
          <a:p>
            <a:pPr lvl="0"/>
            <a:r>
              <a:rPr lang="en-US" b="1" dirty="0"/>
              <a:t>SSL encryption</a:t>
            </a:r>
            <a:r>
              <a:rPr lang="en-US" dirty="0"/>
              <a:t> for secure website communication</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16834"/>
          </a:xfrm>
        </p:spPr>
        <p:txBody>
          <a:bodyPr/>
          <a:lstStyle/>
          <a:p>
            <a:r>
              <a:t>Lab Setup Overview</a:t>
            </a:r>
          </a:p>
        </p:txBody>
      </p:sp>
      <p:sp>
        <p:nvSpPr>
          <p:cNvPr id="7" name="Content Placeholder 6"/>
          <p:cNvSpPr>
            <a:spLocks noGrp="1"/>
          </p:cNvSpPr>
          <p:nvPr>
            <p:ph idx="1"/>
          </p:nvPr>
        </p:nvSpPr>
        <p:spPr>
          <a:xfrm>
            <a:off x="1216058" y="1404594"/>
            <a:ext cx="7470742" cy="4595222"/>
          </a:xfrm>
        </p:spPr>
        <p:txBody>
          <a:bodyPr>
            <a:normAutofit/>
          </a:bodyPr>
          <a:lstStyle/>
          <a:p>
            <a:pPr marL="0" lvl="0" indent="0" defTabSz="914400" eaLnBrk="0" fontAlgn="base" hangingPunct="0">
              <a:spcBef>
                <a:spcPct val="0"/>
              </a:spcBef>
              <a:spcAft>
                <a:spcPct val="0"/>
              </a:spcAft>
              <a:buNone/>
            </a:pPr>
            <a:r>
              <a:rPr lang="en-US" altLang="en-US" sz="2000" b="1" dirty="0">
                <a:latin typeface="Calibri" panose="020F0502020204030204" pitchFamily="34" charset="0"/>
                <a:ea typeface="Calibri" panose="020F0502020204030204" pitchFamily="34" charset="0"/>
                <a:cs typeface="Times New Roman" panose="02020603050405020304" pitchFamily="18" charset="0"/>
              </a:rPr>
              <a:t>Virtualization Platform</a:t>
            </a:r>
            <a:endParaRPr lang="en-US" altLang="en-US" sz="300" dirty="0"/>
          </a:p>
          <a:p>
            <a:pPr marL="0" lvl="0" indent="0" defTabSz="914400" eaLnBrk="0" fontAlgn="base" hangingPunct="0">
              <a:spcBef>
                <a:spcPct val="0"/>
              </a:spcBef>
              <a:spcAft>
                <a:spcPct val="0"/>
              </a:spcAft>
              <a:buFontTx/>
              <a:buChar char="•"/>
            </a:pPr>
            <a:r>
              <a:rPr lang="en-US" altLang="en-US" sz="2000" dirty="0">
                <a:latin typeface="Calibri" panose="020F0502020204030204" pitchFamily="34" charset="0"/>
                <a:ea typeface="Calibri" panose="020F0502020204030204" pitchFamily="34" charset="0"/>
                <a:cs typeface="Times New Roman" panose="02020603050405020304" pitchFamily="18" charset="0"/>
              </a:rPr>
              <a:t>VirtualBox Version: Oracle VM VirtualBox 7.x</a:t>
            </a:r>
            <a:endParaRPr lang="en-US" altLang="en-US" sz="12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FontTx/>
              <a:buChar char="•"/>
            </a:pPr>
            <a:r>
              <a:rPr lang="en-US" altLang="en-US" sz="2000" dirty="0">
                <a:latin typeface="Calibri" panose="020F0502020204030204" pitchFamily="34" charset="0"/>
                <a:ea typeface="Calibri" panose="020F0502020204030204" pitchFamily="34" charset="0"/>
                <a:cs typeface="Times New Roman" panose="02020603050405020304" pitchFamily="18" charset="0"/>
              </a:rPr>
              <a:t>Host Operating System: Windows 10 / 11 (64-bit)</a:t>
            </a:r>
            <a:endParaRPr lang="en-US" altLang="en-US" sz="12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FontTx/>
              <a:buChar char="•"/>
            </a:pPr>
            <a:r>
              <a:rPr lang="en-US" altLang="en-US" sz="2000" dirty="0">
                <a:latin typeface="Calibri" panose="020F0502020204030204" pitchFamily="34" charset="0"/>
                <a:ea typeface="Calibri" panose="020F0502020204030204" pitchFamily="34" charset="0"/>
                <a:cs typeface="Times New Roman" panose="02020603050405020304" pitchFamily="18" charset="0"/>
              </a:rPr>
              <a:t>Network Mode Used: </a:t>
            </a:r>
            <a:r>
              <a:rPr lang="en-US" altLang="en-US" sz="2000" i="1" dirty="0">
                <a:latin typeface="Calibri" panose="020F0502020204030204" pitchFamily="34" charset="0"/>
                <a:ea typeface="Calibri" panose="020F0502020204030204" pitchFamily="34" charset="0"/>
                <a:cs typeface="Times New Roman" panose="02020603050405020304" pitchFamily="18" charset="0"/>
              </a:rPr>
              <a:t>Internal Network (</a:t>
            </a:r>
            <a:r>
              <a:rPr lang="en-US" altLang="en-US" sz="2000" i="1" dirty="0" err="1">
                <a:latin typeface="Calibri" panose="020F0502020204030204" pitchFamily="34" charset="0"/>
                <a:ea typeface="Calibri" panose="020F0502020204030204" pitchFamily="34" charset="0"/>
                <a:cs typeface="Times New Roman" panose="02020603050405020304" pitchFamily="18" charset="0"/>
              </a:rPr>
              <a:t>intnet</a:t>
            </a:r>
            <a:r>
              <a:rPr lang="en-US" altLang="en-US" sz="2000" i="1" dirty="0">
                <a:latin typeface="Calibri" panose="020F0502020204030204" pitchFamily="34" charset="0"/>
                <a:ea typeface="Calibri" panose="020F0502020204030204" pitchFamily="34" charset="0"/>
                <a:cs typeface="Times New Roman" panose="02020603050405020304" pitchFamily="18" charset="0"/>
              </a:rPr>
              <a:t>)</a:t>
            </a:r>
            <a:r>
              <a:rPr lang="en-US" altLang="en-US" sz="2000" dirty="0">
                <a:latin typeface="Calibri" panose="020F0502020204030204" pitchFamily="34" charset="0"/>
                <a:ea typeface="Calibri" panose="020F0502020204030204" pitchFamily="34" charset="0"/>
                <a:cs typeface="Times New Roman" panose="02020603050405020304" pitchFamily="18" charset="0"/>
              </a:rPr>
              <a:t> for communication between servers</a:t>
            </a:r>
            <a:endParaRPr lang="en-US" altLang="en-US" sz="12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FontTx/>
              <a:buChar char="•"/>
            </a:pPr>
            <a:r>
              <a:rPr lang="en-US" altLang="en-US" sz="2000" dirty="0">
                <a:latin typeface="Calibri" panose="020F0502020204030204" pitchFamily="34" charset="0"/>
                <a:ea typeface="Calibri" panose="020F0502020204030204" pitchFamily="34" charset="0"/>
                <a:cs typeface="Times New Roman" panose="02020603050405020304" pitchFamily="18" charset="0"/>
              </a:rPr>
              <a:t>Optional NAT adapter added for updates</a:t>
            </a:r>
            <a:endParaRPr lang="en-US" altLang="en-US" sz="300" dirty="0"/>
          </a:p>
          <a:p>
            <a:pPr marL="0" lvl="0" indent="0" defTabSz="914400" eaLnBrk="0" fontAlgn="base" hangingPunct="0">
              <a:spcBef>
                <a:spcPct val="0"/>
              </a:spcBef>
              <a:spcAft>
                <a:spcPct val="0"/>
              </a:spcAft>
              <a:buNone/>
            </a:pPr>
            <a:endParaRPr lang="en-US" altLang="en-US" sz="2000" b="1"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None/>
            </a:pPr>
            <a:endParaRPr lang="en-US" altLang="en-US" sz="300" dirty="0"/>
          </a:p>
          <a:p>
            <a:pPr marL="0" lvl="0" indent="0" defTabSz="914400" eaLnBrk="0" fontAlgn="base" hangingPunct="0">
              <a:spcBef>
                <a:spcPct val="0"/>
              </a:spcBef>
              <a:spcAft>
                <a:spcPct val="0"/>
              </a:spcAft>
              <a:buNone/>
            </a:pPr>
            <a:r>
              <a:rPr lang="en-US" altLang="en-US" sz="2000" b="1" dirty="0">
                <a:latin typeface="Calibri" panose="020F0502020204030204" pitchFamily="34" charset="0"/>
                <a:ea typeface="Calibri" panose="020F0502020204030204" pitchFamily="34" charset="0"/>
                <a:cs typeface="Times New Roman" panose="02020603050405020304" pitchFamily="18" charset="0"/>
              </a:rPr>
              <a:t>VM Hardware Configuration</a:t>
            </a:r>
            <a:endParaRPr lang="en-US" altLang="en-US" sz="300" dirty="0"/>
          </a:p>
          <a:p>
            <a:pPr marL="0" lvl="0" indent="0" defTabSz="914400" eaLnBrk="0" fontAlgn="base" hangingPunct="0">
              <a:spcBef>
                <a:spcPct val="0"/>
              </a:spcBef>
              <a:spcAft>
                <a:spcPct val="0"/>
              </a:spcAft>
              <a:buNone/>
            </a:pPr>
            <a:r>
              <a:rPr lang="en-US" altLang="en-US" sz="2000" dirty="0">
                <a:latin typeface="Calibri" panose="020F0502020204030204" pitchFamily="34" charset="0"/>
                <a:ea typeface="Calibri" panose="020F0502020204030204" pitchFamily="34" charset="0"/>
                <a:cs typeface="Times New Roman" panose="02020603050405020304" pitchFamily="18" charset="0"/>
              </a:rPr>
              <a:t>Each Ubuntu server machine was provisioned with:</a:t>
            </a:r>
            <a:endParaRPr lang="en-US" altLang="en-US" sz="300" dirty="0"/>
          </a:p>
          <a:p>
            <a:pPr marL="0" lvl="0" indent="0" defTabSz="914400" eaLnBrk="0" fontAlgn="base" hangingPunct="0">
              <a:spcBef>
                <a:spcPct val="0"/>
              </a:spcBef>
              <a:spcAft>
                <a:spcPct val="0"/>
              </a:spcAft>
              <a:buFontTx/>
              <a:buChar char="•"/>
            </a:pPr>
            <a:r>
              <a:rPr lang="en-US" altLang="en-US" sz="2000" b="1" dirty="0">
                <a:latin typeface="Calibri" panose="020F0502020204030204" pitchFamily="34" charset="0"/>
                <a:ea typeface="Calibri" panose="020F0502020204030204" pitchFamily="34" charset="0"/>
                <a:cs typeface="Times New Roman" panose="02020603050405020304" pitchFamily="18" charset="0"/>
              </a:rPr>
              <a:t>2 GB RAM</a:t>
            </a:r>
            <a:endParaRPr lang="en-US" altLang="en-US" sz="12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FontTx/>
              <a:buChar char="•"/>
            </a:pPr>
            <a:r>
              <a:rPr lang="en-US" altLang="en-US" sz="2000" b="1" dirty="0">
                <a:latin typeface="Calibri" panose="020F0502020204030204" pitchFamily="34" charset="0"/>
                <a:ea typeface="Calibri" panose="020F0502020204030204" pitchFamily="34" charset="0"/>
                <a:cs typeface="Times New Roman" panose="02020603050405020304" pitchFamily="18" charset="0"/>
              </a:rPr>
              <a:t>2 CPU Cores</a:t>
            </a:r>
            <a:endParaRPr lang="en-US" altLang="en-US" sz="12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FontTx/>
              <a:buChar char="•"/>
            </a:pPr>
            <a:r>
              <a:rPr lang="en-US" altLang="en-US" sz="2000" b="1" dirty="0">
                <a:latin typeface="Calibri" panose="020F0502020204030204" pitchFamily="34" charset="0"/>
                <a:ea typeface="Calibri" panose="020F0502020204030204" pitchFamily="34" charset="0"/>
                <a:cs typeface="Times New Roman" panose="02020603050405020304" pitchFamily="18" charset="0"/>
              </a:rPr>
              <a:t>20–25 GB Storage</a:t>
            </a:r>
            <a:endParaRPr lang="en-US" altLang="en-US" sz="12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FontTx/>
              <a:buChar char="•"/>
            </a:pPr>
            <a:r>
              <a:rPr lang="en-US" altLang="en-US" sz="2000" b="1" dirty="0">
                <a:latin typeface="Calibri" panose="020F0502020204030204" pitchFamily="34" charset="0"/>
                <a:ea typeface="Calibri" panose="020F0502020204030204" pitchFamily="34" charset="0"/>
                <a:cs typeface="Times New Roman" panose="02020603050405020304" pitchFamily="18" charset="0"/>
              </a:rPr>
              <a:t>Internal Network Adapter</a:t>
            </a:r>
            <a:endParaRPr lang="en-US" altLang="en-US" sz="1200" dirty="0">
              <a:latin typeface="Calibri" panose="020F0502020204030204" pitchFamily="34" charset="0"/>
              <a:ea typeface="Calibri" panose="020F0502020204030204" pitchFamily="34" charset="0"/>
              <a:cs typeface="Times New Roman" panose="02020603050405020304" pitchFamily="18" charset="0"/>
            </a:endParaRPr>
          </a:p>
          <a:p>
            <a:pPr marL="0" lvl="0" indent="0" defTabSz="914400" eaLnBrk="0" fontAlgn="base" hangingPunct="0">
              <a:spcBef>
                <a:spcPct val="0"/>
              </a:spcBef>
              <a:spcAft>
                <a:spcPct val="0"/>
              </a:spcAft>
              <a:buFontTx/>
              <a:buChar char="•"/>
            </a:pPr>
            <a:r>
              <a:rPr lang="en-US" altLang="en-US" sz="2000" b="1" dirty="0">
                <a:latin typeface="Calibri" panose="020F0502020204030204" pitchFamily="34" charset="0"/>
                <a:ea typeface="Calibri" panose="020F0502020204030204" pitchFamily="34" charset="0"/>
                <a:cs typeface="Times New Roman" panose="02020603050405020304" pitchFamily="18" charset="0"/>
              </a:rPr>
              <a:t>Optional NAT Adapter for updates</a:t>
            </a:r>
            <a:endParaRPr lang="en-US" altLang="en-US" sz="300" dirty="0"/>
          </a:p>
          <a:p>
            <a:endParaRPr lang="en-US" dirty="0"/>
          </a:p>
        </p:txBody>
      </p:sp>
      <p:sp>
        <p:nvSpPr>
          <p:cNvPr id="5" name="Rectangle 1"/>
          <p:cNvSpPr>
            <a:spLocks noChangeArrowheads="1"/>
          </p:cNvSpPr>
          <p:nvPr/>
        </p:nvSpPr>
        <p:spPr bwMode="auto">
          <a:xfrm>
            <a:off x="0" y="90100"/>
            <a:ext cx="23756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p:nvPr/>
        </p:nvGraphicFramePr>
        <p:xfrm>
          <a:off x="1216058" y="1326822"/>
          <a:ext cx="7211505" cy="4374360"/>
        </p:xfrm>
        <a:graphic>
          <a:graphicData uri="http://schemas.openxmlformats.org/drawingml/2006/table">
            <a:tbl>
              <a:tblPr firstRow="1" firstCol="1" bandRow="1">
                <a:tableStyleId>{5C22544A-7EE6-4342-B048-85BDC9FD1C3A}</a:tableStyleId>
              </a:tblPr>
              <a:tblGrid>
                <a:gridCol w="1458217"/>
                <a:gridCol w="1566779"/>
                <a:gridCol w="2173720"/>
                <a:gridCol w="2012789"/>
              </a:tblGrid>
              <a:tr h="397960">
                <a:tc>
                  <a:txBody>
                    <a:bodyPr/>
                    <a:lstStyle/>
                    <a:p>
                      <a:pPr marL="0" marR="0">
                        <a:lnSpc>
                          <a:spcPct val="115000"/>
                        </a:lnSpc>
                        <a:spcAft>
                          <a:spcPts val="800"/>
                        </a:spcAft>
                        <a:buNone/>
                      </a:pPr>
                      <a:r>
                        <a:rPr lang="en-US" sz="1800" kern="100">
                          <a:effectLst/>
                        </a:rPr>
                        <a:t>VM Role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OS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dirty="0">
                          <a:effectLst/>
                        </a:rPr>
                        <a:t>IP Address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Purpose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95280">
                <a:tc>
                  <a:txBody>
                    <a:bodyPr/>
                    <a:lstStyle/>
                    <a:p>
                      <a:pPr marL="0" marR="0">
                        <a:lnSpc>
                          <a:spcPct val="115000"/>
                        </a:lnSpc>
                        <a:spcAft>
                          <a:spcPts val="800"/>
                        </a:spcAft>
                        <a:buNone/>
                      </a:pPr>
                      <a:r>
                        <a:rPr lang="en-US" sz="1800" kern="100">
                          <a:effectLst/>
                        </a:rPr>
                        <a:t>Web Server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dirty="0">
                          <a:effectLst/>
                        </a:rPr>
                        <a:t>Kali Linux</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192.168.56.102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Host Apache2 and HTTPS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95280">
                <a:tc>
                  <a:txBody>
                    <a:bodyPr/>
                    <a:lstStyle/>
                    <a:p>
                      <a:pPr marL="0" marR="0">
                        <a:lnSpc>
                          <a:spcPct val="115000"/>
                        </a:lnSpc>
                        <a:spcAft>
                          <a:spcPts val="800"/>
                        </a:spcAft>
                        <a:buNone/>
                      </a:pPr>
                      <a:r>
                        <a:rPr lang="en-US" sz="1800" kern="100">
                          <a:effectLst/>
                        </a:rPr>
                        <a:t>DNS Server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Kali Linux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192.168.56.105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Host Bind9 and zone resolution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95280">
                <a:tc>
                  <a:txBody>
                    <a:bodyPr/>
                    <a:lstStyle/>
                    <a:p>
                      <a:pPr marL="0" marR="0">
                        <a:lnSpc>
                          <a:spcPct val="115000"/>
                        </a:lnSpc>
                        <a:spcAft>
                          <a:spcPts val="800"/>
                        </a:spcAft>
                        <a:buNone/>
                      </a:pPr>
                      <a:r>
                        <a:rPr lang="en-US" sz="1800" kern="100" dirty="0">
                          <a:effectLst/>
                        </a:rPr>
                        <a:t>Mail Server</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Kali Linux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192.168.56.107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Host Postfix for local mail transfer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95280">
                <a:tc>
                  <a:txBody>
                    <a:bodyPr/>
                    <a:lstStyle/>
                    <a:p>
                      <a:pPr marL="0" marR="0">
                        <a:lnSpc>
                          <a:spcPct val="115000"/>
                        </a:lnSpc>
                        <a:spcAft>
                          <a:spcPts val="800"/>
                        </a:spcAft>
                        <a:buNone/>
                      </a:pPr>
                      <a:r>
                        <a:rPr lang="en-US" sz="1800" kern="100">
                          <a:effectLst/>
                        </a:rPr>
                        <a:t>FTP Server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Ubuntu</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192.168.56.101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Host vsftpd for file transfer</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95280">
                <a:tc>
                  <a:txBody>
                    <a:bodyPr/>
                    <a:lstStyle/>
                    <a:p>
                      <a:pPr marL="0" marR="0">
                        <a:lnSpc>
                          <a:spcPct val="115000"/>
                        </a:lnSpc>
                        <a:spcAft>
                          <a:spcPts val="800"/>
                        </a:spcAft>
                        <a:buNone/>
                      </a:pPr>
                      <a:r>
                        <a:rPr lang="en-US" sz="1800" kern="100" dirty="0">
                          <a:effectLst/>
                        </a:rPr>
                        <a:t>Attacker / Test Machine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Kali Linux</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a:effectLst/>
                        </a:rPr>
                        <a:t>DHCP / Manual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800" kern="100" dirty="0">
                          <a:effectLst/>
                        </a:rPr>
                        <a:t>Used for Nmap &amp; penetration testing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
        <p:nvSpPr>
          <p:cNvPr id="3" name="TextBox 2"/>
          <p:cNvSpPr txBox="1"/>
          <p:nvPr/>
        </p:nvSpPr>
        <p:spPr>
          <a:xfrm>
            <a:off x="1305613" y="444943"/>
            <a:ext cx="4572000" cy="392159"/>
          </a:xfrm>
          <a:prstGeom prst="rect">
            <a:avLst/>
          </a:prstGeom>
          <a:noFill/>
        </p:spPr>
        <p:txBody>
          <a:bodyPr wrap="square">
            <a:spAutoFit/>
          </a:bodyPr>
          <a:lstStyle/>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Guest Operating Systems (VMs Used)</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051088"/>
          </a:xfrm>
        </p:spPr>
        <p:txBody>
          <a:bodyPr/>
          <a:lstStyle/>
          <a:p>
            <a:r>
              <a:rPr dirty="0"/>
              <a:t>Network Topology Diagram</a:t>
            </a:r>
            <a:endParaRPr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264937" y="1600199"/>
            <a:ext cx="7294601" cy="40935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0335"/>
          </a:xfrm>
        </p:spPr>
        <p:txBody>
          <a:bodyPr>
            <a:normAutofit fontScale="90000"/>
          </a:bodyPr>
          <a:lstStyle/>
          <a:p>
            <a:r>
              <a:rPr dirty="0"/>
              <a:t>Web Server (Apache2 + HTTPS)</a:t>
            </a:r>
            <a:endParaRPr dirty="0"/>
          </a:p>
        </p:txBody>
      </p:sp>
      <p:sp>
        <p:nvSpPr>
          <p:cNvPr id="3" name="Content Placeholder 2"/>
          <p:cNvSpPr>
            <a:spLocks noGrp="1"/>
          </p:cNvSpPr>
          <p:nvPr>
            <p:ph idx="1"/>
          </p:nvPr>
        </p:nvSpPr>
        <p:spPr>
          <a:xfrm>
            <a:off x="1838226" y="1112363"/>
            <a:ext cx="6848573" cy="5470999"/>
          </a:xfrm>
        </p:spPr>
        <p:txBody>
          <a:bodyPr>
            <a:normAutofit fontScale="77500" lnSpcReduction="20000"/>
          </a:bodyPr>
          <a:lstStyle/>
          <a:p>
            <a:pPr marL="0" indent="0">
              <a:buNone/>
            </a:pPr>
            <a:r>
              <a:rPr lang="en-US" sz="1400" dirty="0"/>
              <a:t>1.1 </a:t>
            </a:r>
            <a:r>
              <a:rPr lang="en-US" sz="1400" b="1" dirty="0"/>
              <a:t>Installation Steps</a:t>
            </a:r>
            <a:endParaRPr lang="en-US" sz="1400" dirty="0"/>
          </a:p>
          <a:p>
            <a:pPr marL="0" indent="0">
              <a:buNone/>
            </a:pPr>
            <a:r>
              <a:rPr lang="en-US" sz="1400" dirty="0" err="1"/>
              <a:t>sudo</a:t>
            </a:r>
            <a:r>
              <a:rPr lang="en-US" sz="1400" dirty="0"/>
              <a:t> apt update</a:t>
            </a:r>
            <a:endParaRPr lang="en-US" sz="1400" dirty="0"/>
          </a:p>
          <a:p>
            <a:pPr marL="0" indent="0">
              <a:buNone/>
            </a:pPr>
            <a:r>
              <a:rPr lang="en-US" sz="1400" dirty="0" err="1"/>
              <a:t>sudo</a:t>
            </a:r>
            <a:r>
              <a:rPr lang="en-US" sz="1400" dirty="0"/>
              <a:t> apt install apache2</a:t>
            </a:r>
            <a:endParaRPr lang="en-US" sz="1400" dirty="0"/>
          </a:p>
          <a:p>
            <a:pPr marL="0" indent="0">
              <a:buNone/>
            </a:pPr>
            <a:endParaRPr lang="en-US" sz="1400" dirty="0"/>
          </a:p>
          <a:p>
            <a:pPr marL="0" indent="0">
              <a:buNone/>
            </a:pPr>
            <a:r>
              <a:rPr lang="en-US" sz="1400" dirty="0"/>
              <a:t>1.2 Enable Firewall Rules</a:t>
            </a:r>
            <a:endParaRPr lang="en-US" sz="1400" dirty="0"/>
          </a:p>
          <a:p>
            <a:pPr marL="0" indent="0">
              <a:buNone/>
            </a:pPr>
            <a:r>
              <a:rPr lang="en-US" sz="1400" dirty="0" err="1"/>
              <a:t>sudo</a:t>
            </a:r>
            <a:r>
              <a:rPr lang="en-US" sz="1400" dirty="0"/>
              <a:t> </a:t>
            </a:r>
            <a:r>
              <a:rPr lang="en-US" sz="1400" dirty="0" err="1"/>
              <a:t>ufw</a:t>
            </a:r>
            <a:r>
              <a:rPr lang="en-US" sz="1400" dirty="0"/>
              <a:t> allow 80/</a:t>
            </a:r>
            <a:r>
              <a:rPr lang="en-US" sz="1400" dirty="0" err="1"/>
              <a:t>tcp</a:t>
            </a:r>
            <a:endParaRPr lang="en-US" sz="1400" dirty="0"/>
          </a:p>
          <a:p>
            <a:pPr marL="0" indent="0">
              <a:buNone/>
            </a:pPr>
            <a:r>
              <a:rPr lang="en-US" sz="1400" dirty="0" err="1"/>
              <a:t>sudo</a:t>
            </a:r>
            <a:r>
              <a:rPr lang="en-US" sz="1400" dirty="0"/>
              <a:t> </a:t>
            </a:r>
            <a:r>
              <a:rPr lang="en-US" sz="1400" dirty="0" err="1"/>
              <a:t>ufw</a:t>
            </a:r>
            <a:r>
              <a:rPr lang="en-US" sz="1400" dirty="0"/>
              <a:t> allow 443/</a:t>
            </a:r>
            <a:r>
              <a:rPr lang="en-US" sz="1400" dirty="0" err="1"/>
              <a:t>tcp</a:t>
            </a:r>
            <a:endParaRPr lang="en-US" sz="1400" dirty="0"/>
          </a:p>
          <a:p>
            <a:pPr marL="0" indent="0">
              <a:buNone/>
            </a:pPr>
            <a:r>
              <a:rPr lang="en-US" sz="1400" dirty="0"/>
              <a:t> </a:t>
            </a:r>
            <a:endParaRPr lang="en-US" sz="1400" dirty="0"/>
          </a:p>
          <a:p>
            <a:pPr marL="0" indent="0">
              <a:buNone/>
            </a:pPr>
            <a:r>
              <a:rPr lang="en-US" sz="1400" dirty="0"/>
              <a:t>1.3 Create Self-Signed SSL Certificate</a:t>
            </a:r>
            <a:endParaRPr lang="en-US" sz="1400" dirty="0"/>
          </a:p>
          <a:p>
            <a:pPr marL="0" indent="0">
              <a:buNone/>
            </a:pPr>
            <a:r>
              <a:rPr lang="en-US" sz="1400" dirty="0" err="1"/>
              <a:t>sudo</a:t>
            </a:r>
            <a:r>
              <a:rPr lang="en-US" sz="1400" dirty="0"/>
              <a:t> </a:t>
            </a:r>
            <a:r>
              <a:rPr lang="en-US" sz="1400" dirty="0" err="1"/>
              <a:t>openssl</a:t>
            </a:r>
            <a:r>
              <a:rPr lang="en-US" sz="1400" dirty="0"/>
              <a:t> req -x509 -nodes -days 365 -</a:t>
            </a:r>
            <a:r>
              <a:rPr lang="en-US" sz="1400" dirty="0" err="1"/>
              <a:t>newkey</a:t>
            </a:r>
            <a:r>
              <a:rPr lang="en-US" sz="1400" dirty="0"/>
              <a:t> rsa:2048 \</a:t>
            </a:r>
            <a:endParaRPr lang="en-US" sz="1400" dirty="0"/>
          </a:p>
          <a:p>
            <a:pPr marL="0" indent="0">
              <a:buNone/>
            </a:pPr>
            <a:r>
              <a:rPr lang="en-US" sz="1400" dirty="0"/>
              <a:t>-</a:t>
            </a:r>
            <a:r>
              <a:rPr lang="en-US" sz="1400" dirty="0" err="1"/>
              <a:t>keyout</a:t>
            </a:r>
            <a:r>
              <a:rPr lang="en-US" sz="1400" dirty="0"/>
              <a:t> /</a:t>
            </a:r>
            <a:r>
              <a:rPr lang="en-US" sz="1400" dirty="0" err="1"/>
              <a:t>etc</a:t>
            </a:r>
            <a:r>
              <a:rPr lang="en-US" sz="1400" dirty="0"/>
              <a:t>/</a:t>
            </a:r>
            <a:r>
              <a:rPr lang="en-US" sz="1400" dirty="0" err="1"/>
              <a:t>ssl</a:t>
            </a:r>
            <a:r>
              <a:rPr lang="en-US" sz="1400" dirty="0"/>
              <a:t>/private/</a:t>
            </a:r>
            <a:r>
              <a:rPr lang="en-US" sz="1400" dirty="0" err="1"/>
              <a:t>apache.key</a:t>
            </a:r>
            <a:r>
              <a:rPr lang="en-US" sz="1400" dirty="0"/>
              <a:t> \</a:t>
            </a:r>
            <a:endParaRPr lang="en-US" sz="1400" dirty="0"/>
          </a:p>
          <a:p>
            <a:pPr marL="0" indent="0">
              <a:buNone/>
            </a:pPr>
            <a:r>
              <a:rPr lang="en-US" sz="1400" dirty="0"/>
              <a:t>-out /</a:t>
            </a:r>
            <a:r>
              <a:rPr lang="en-US" sz="1400" dirty="0" err="1"/>
              <a:t>etc</a:t>
            </a:r>
            <a:r>
              <a:rPr lang="en-US" sz="1400" dirty="0"/>
              <a:t>/</a:t>
            </a:r>
            <a:r>
              <a:rPr lang="en-US" sz="1400" dirty="0" err="1"/>
              <a:t>ssl</a:t>
            </a:r>
            <a:r>
              <a:rPr lang="en-US" sz="1400" dirty="0"/>
              <a:t>/certs/apache.crt</a:t>
            </a:r>
            <a:endParaRPr lang="en-US" sz="1400" dirty="0"/>
          </a:p>
          <a:p>
            <a:pPr marL="0" indent="0">
              <a:buNone/>
            </a:pPr>
            <a:r>
              <a:rPr lang="en-US" sz="1400" dirty="0"/>
              <a:t> </a:t>
            </a:r>
            <a:endParaRPr lang="en-US" sz="1400" dirty="0"/>
          </a:p>
          <a:p>
            <a:pPr marL="0" indent="0">
              <a:buNone/>
            </a:pPr>
            <a:r>
              <a:rPr lang="en-US" sz="1400" dirty="0"/>
              <a:t>1.4 Configure Virtual Host</a:t>
            </a:r>
            <a:endParaRPr lang="en-US" sz="1400" dirty="0"/>
          </a:p>
          <a:p>
            <a:pPr marL="0" indent="0">
              <a:buNone/>
            </a:pPr>
            <a:r>
              <a:rPr lang="en-US" sz="1400" dirty="0"/>
              <a:t>Edit the SSL config file:</a:t>
            </a:r>
            <a:endParaRPr lang="en-US" sz="1400" dirty="0"/>
          </a:p>
          <a:p>
            <a:pPr marL="0" indent="0">
              <a:buNone/>
            </a:pPr>
            <a:r>
              <a:rPr lang="en-US" sz="1400" dirty="0" err="1"/>
              <a:t>sudo</a:t>
            </a:r>
            <a:r>
              <a:rPr lang="en-US" sz="1400" dirty="0"/>
              <a:t> nano /</a:t>
            </a:r>
            <a:r>
              <a:rPr lang="en-US" sz="1400" dirty="0" err="1"/>
              <a:t>etc</a:t>
            </a:r>
            <a:r>
              <a:rPr lang="en-US" sz="1400" dirty="0"/>
              <a:t>/apache2/sites-available/default-</a:t>
            </a:r>
            <a:r>
              <a:rPr lang="en-US" sz="1400" dirty="0" err="1"/>
              <a:t>ssl.conf</a:t>
            </a:r>
            <a:endParaRPr lang="en-US" sz="1400" dirty="0"/>
          </a:p>
          <a:p>
            <a:pPr marL="0" indent="0">
              <a:buNone/>
            </a:pPr>
            <a:r>
              <a:rPr lang="en-US" sz="1400" dirty="0"/>
              <a:t> </a:t>
            </a:r>
            <a:endParaRPr lang="en-US" sz="1400" dirty="0"/>
          </a:p>
          <a:p>
            <a:pPr marL="0" indent="0">
              <a:buNone/>
            </a:pPr>
            <a:r>
              <a:rPr lang="en-US" sz="1400" dirty="0"/>
              <a:t>Set:</a:t>
            </a:r>
            <a:endParaRPr lang="en-US" sz="1400" dirty="0"/>
          </a:p>
          <a:p>
            <a:pPr marL="0" indent="0">
              <a:buNone/>
            </a:pPr>
            <a:r>
              <a:rPr lang="en-US" sz="1400" dirty="0" err="1"/>
              <a:t>SSLEngine</a:t>
            </a:r>
            <a:r>
              <a:rPr lang="en-US" sz="1400" dirty="0"/>
              <a:t> on</a:t>
            </a:r>
            <a:endParaRPr lang="en-US" sz="1400" dirty="0"/>
          </a:p>
          <a:p>
            <a:pPr marL="0" indent="0">
              <a:buNone/>
            </a:pPr>
            <a:r>
              <a:rPr lang="en-US" sz="1400" dirty="0" err="1"/>
              <a:t>SSLCertificateFile</a:t>
            </a:r>
            <a:r>
              <a:rPr lang="en-US" sz="1400" dirty="0"/>
              <a:t> /</a:t>
            </a:r>
            <a:r>
              <a:rPr lang="en-US" sz="1400" dirty="0" err="1"/>
              <a:t>etc</a:t>
            </a:r>
            <a:r>
              <a:rPr lang="en-US" sz="1400" dirty="0"/>
              <a:t>/</a:t>
            </a:r>
            <a:r>
              <a:rPr lang="en-US" sz="1400" dirty="0" err="1"/>
              <a:t>ssl</a:t>
            </a:r>
            <a:r>
              <a:rPr lang="en-US" sz="1400" dirty="0"/>
              <a:t>/certs/apache.crt</a:t>
            </a:r>
            <a:endParaRPr lang="en-US" sz="1400" dirty="0"/>
          </a:p>
          <a:p>
            <a:pPr marL="0" indent="0">
              <a:buNone/>
            </a:pPr>
            <a:r>
              <a:rPr lang="en-US" sz="1400" dirty="0" err="1"/>
              <a:t>SSLCertificateKeyFile</a:t>
            </a:r>
            <a:r>
              <a:rPr lang="en-US" sz="1400" dirty="0"/>
              <a:t> /</a:t>
            </a:r>
            <a:r>
              <a:rPr lang="en-US" sz="1400" dirty="0" err="1"/>
              <a:t>etc</a:t>
            </a:r>
            <a:r>
              <a:rPr lang="en-US" sz="1400" dirty="0"/>
              <a:t>/</a:t>
            </a:r>
            <a:r>
              <a:rPr lang="en-US" sz="1400" dirty="0" err="1"/>
              <a:t>ssl</a:t>
            </a:r>
            <a:r>
              <a:rPr lang="en-US" sz="1400" dirty="0"/>
              <a:t>/private/</a:t>
            </a:r>
            <a:r>
              <a:rPr lang="en-US" sz="1400" dirty="0" err="1"/>
              <a:t>apache.key</a:t>
            </a:r>
            <a:endParaRPr lang="en-US" sz="1400" dirty="0"/>
          </a:p>
          <a:p>
            <a:pPr marL="0" indent="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6950" y="896961"/>
            <a:ext cx="6330099" cy="5201424"/>
          </a:xfrm>
          <a:prstGeom prst="rect">
            <a:avLst/>
          </a:prstGeom>
          <a:noFill/>
        </p:spPr>
        <p:txBody>
          <a:bodyPr wrap="square">
            <a:spAutoFit/>
          </a:bodyPr>
          <a:lstStyle/>
          <a:p>
            <a:r>
              <a:rPr lang="en-US" dirty="0"/>
              <a:t>Enable SSL Module:</a:t>
            </a:r>
            <a:endParaRPr lang="en-US" dirty="0"/>
          </a:p>
          <a:p>
            <a:r>
              <a:rPr lang="en-US" dirty="0"/>
              <a:t> </a:t>
            </a:r>
            <a:endParaRPr lang="en-US" dirty="0"/>
          </a:p>
          <a:p>
            <a:r>
              <a:rPr lang="en-US" dirty="0" err="1"/>
              <a:t>sudo</a:t>
            </a:r>
            <a:r>
              <a:rPr lang="en-US" dirty="0"/>
              <a:t> a2enmod </a:t>
            </a:r>
            <a:r>
              <a:rPr lang="en-US" dirty="0" err="1"/>
              <a:t>ssl</a:t>
            </a:r>
            <a:endParaRPr lang="en-US" dirty="0"/>
          </a:p>
          <a:p>
            <a:r>
              <a:rPr lang="en-US" dirty="0" err="1"/>
              <a:t>sudo</a:t>
            </a:r>
            <a:r>
              <a:rPr lang="en-US" dirty="0"/>
              <a:t> a2ensite default-</a:t>
            </a:r>
            <a:r>
              <a:rPr lang="en-US" dirty="0" err="1"/>
              <a:t>ssl.conf</a:t>
            </a:r>
            <a:endParaRPr lang="en-US" dirty="0"/>
          </a:p>
          <a:p>
            <a:r>
              <a:rPr lang="en-US" dirty="0" err="1"/>
              <a:t>sudo</a:t>
            </a:r>
            <a:r>
              <a:rPr lang="en-US" dirty="0"/>
              <a:t> </a:t>
            </a:r>
            <a:r>
              <a:rPr lang="en-US" dirty="0" err="1"/>
              <a:t>systemctl</a:t>
            </a:r>
            <a:r>
              <a:rPr lang="en-US" dirty="0"/>
              <a:t> restart apache2</a:t>
            </a:r>
            <a:endParaRPr lang="en-US" dirty="0"/>
          </a:p>
          <a:p>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1.5 HTTPS Testing</a:t>
            </a:r>
            <a:endParaRPr lang="en-US" sz="1100" kern="100" dirty="0">
              <a:latin typeface="Calibri" panose="020F0502020204030204" pitchFamily="34" charset="0"/>
              <a:ea typeface="Calibri" panose="020F0502020204030204" pitchFamily="34" charset="0"/>
              <a:cs typeface="Times New Roman" panose="02020603050405020304" pitchFamily="18" charset="0"/>
            </a:endParaRPr>
          </a:p>
          <a:p>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Using browser or:</a:t>
            </a:r>
            <a:r>
              <a:rPr lang="en-US" sz="1100" kern="100" dirty="0">
                <a:latin typeface="Calibri" panose="020F0502020204030204" pitchFamily="34" charset="0"/>
                <a:ea typeface="Calibri" panose="020F0502020204030204" pitchFamily="34" charset="0"/>
                <a:cs typeface="Times New Roman" panose="02020603050405020304" pitchFamily="18" charset="0"/>
              </a:rPr>
              <a:t>     </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curl -k </a:t>
            </a:r>
            <a:r>
              <a:rPr lang="en-US" sz="18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1"/>
              </a:rPr>
              <a:t>https://192.168.56.102</a:t>
            </a:r>
            <a:endParaRPr lang="en-US" sz="1100" u="sng" kern="100" dirty="0">
              <a:solidFill>
                <a:srgbClr val="0563C1"/>
              </a:solidFill>
              <a:latin typeface="Calibri" panose="020F0502020204030204" pitchFamily="34" charset="0"/>
              <a:ea typeface="Calibri" panose="020F0502020204030204" pitchFamily="34" charset="0"/>
              <a:cs typeface="Times New Roman" panose="02020603050405020304" pitchFamily="18" charset="0"/>
            </a:endParaRPr>
          </a:p>
          <a:p>
            <a:endParaRPr lang="en-US" sz="1100" u="sng" kern="100"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Hardening Applied</a:t>
            </a:r>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t>✔ Disable directory listing</a:t>
            </a:r>
            <a:br>
              <a:rPr lang="en-US" dirty="0"/>
            </a:br>
            <a:r>
              <a:rPr lang="en-US" dirty="0"/>
              <a:t>✔ Enable firewall rules</a:t>
            </a:r>
            <a:br>
              <a:rPr lang="en-US" dirty="0"/>
            </a:br>
            <a:r>
              <a:rPr lang="en-US" dirty="0"/>
              <a:t>✔ Disable default Apache pages</a:t>
            </a:r>
            <a:br>
              <a:rPr lang="en-US" dirty="0"/>
            </a:br>
            <a:r>
              <a:rPr lang="en-US" dirty="0"/>
              <a:t>✔ Restrict access logs</a:t>
            </a:r>
            <a:endParaRPr lang="en-US" dirty="0"/>
          </a:p>
          <a:p>
            <a:endParaRPr lang="en-US" dirty="0"/>
          </a:p>
          <a:p>
            <a:r>
              <a:rPr lang="en-US" dirty="0"/>
              <a:t>Nmap Scan</a:t>
            </a:r>
            <a:endParaRPr lang="en-US" dirty="0"/>
          </a:p>
          <a:p>
            <a:r>
              <a:rPr lang="en-US" dirty="0" err="1"/>
              <a:t>nmap</a:t>
            </a:r>
            <a:r>
              <a:rPr lang="en-US" dirty="0"/>
              <a:t> -</a:t>
            </a:r>
            <a:r>
              <a:rPr lang="en-US" dirty="0" err="1"/>
              <a:t>sV</a:t>
            </a:r>
            <a:r>
              <a:rPr lang="en-US" dirty="0"/>
              <a:t> 192.168.56.102</a:t>
            </a:r>
            <a:endParaRPr lang="en-US" dirty="0"/>
          </a:p>
          <a:p>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15"/>
          <p:cNvPicPr>
            <a:picLocks noGrp="1" noChangeAspect="1"/>
          </p:cNvPicPr>
          <p:nvPr>
            <p:ph sz="half" idx="2"/>
          </p:nvPr>
        </p:nvPicPr>
        <p:blipFill>
          <a:blip r:embed="rId1"/>
          <a:stretch>
            <a:fillRect/>
          </a:stretch>
        </p:blipFill>
        <p:spPr>
          <a:xfrm>
            <a:off x="4935538" y="798628"/>
            <a:ext cx="3671887" cy="1950807"/>
          </a:xfrm>
        </p:spPr>
      </p:pic>
      <p:pic>
        <p:nvPicPr>
          <p:cNvPr id="18" name="Content Placeholder 17"/>
          <p:cNvPicPr>
            <a:picLocks noGrp="1" noChangeAspect="1"/>
          </p:cNvPicPr>
          <p:nvPr>
            <p:ph sz="quarter" idx="4"/>
          </p:nvPr>
        </p:nvPicPr>
        <p:blipFill>
          <a:blip r:embed="rId2"/>
          <a:stretch>
            <a:fillRect/>
          </a:stretch>
        </p:blipFill>
        <p:spPr>
          <a:xfrm>
            <a:off x="1164063" y="4004148"/>
            <a:ext cx="3671887" cy="1844727"/>
          </a:xfrm>
        </p:spPr>
      </p:pic>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2149" y="1478192"/>
            <a:ext cx="3913801" cy="1950808"/>
          </a:xfrm>
          <a:prstGeom prst="rect">
            <a:avLst/>
          </a:prstGeom>
          <a:noFill/>
          <a:ln>
            <a:noFill/>
          </a:ln>
        </p:spPr>
      </p:pic>
      <p:pic>
        <p:nvPicPr>
          <p:cNvPr id="20" name="Picture 1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10199" y="3144066"/>
            <a:ext cx="3671887" cy="1720165"/>
          </a:xfrm>
          <a:prstGeom prst="rect">
            <a:avLst/>
          </a:prstGeom>
          <a:noFill/>
          <a:ln>
            <a:noFill/>
          </a:ln>
        </p:spPr>
      </p:pic>
      <p:sp>
        <p:nvSpPr>
          <p:cNvPr id="21" name="TextBox 20"/>
          <p:cNvSpPr txBox="1"/>
          <p:nvPr/>
        </p:nvSpPr>
        <p:spPr>
          <a:xfrm>
            <a:off x="1234911" y="395926"/>
            <a:ext cx="3671887" cy="369332"/>
          </a:xfrm>
          <a:prstGeom prst="rect">
            <a:avLst/>
          </a:prstGeom>
          <a:noFill/>
        </p:spPr>
        <p:txBody>
          <a:bodyPr wrap="square" rtlCol="0">
            <a:spAutoFit/>
          </a:bodyPr>
          <a:lstStyle/>
          <a:p>
            <a:r>
              <a:rPr lang="en-US" dirty="0"/>
              <a:t>Screenshots: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919112"/>
          </a:xfrm>
        </p:spPr>
        <p:txBody>
          <a:bodyPr/>
          <a:lstStyle/>
          <a:p>
            <a:r>
              <a:rPr dirty="0"/>
              <a:t>DNS Server (Bind9)</a:t>
            </a:r>
            <a:endParaRPr dirty="0"/>
          </a:p>
        </p:txBody>
      </p:sp>
      <p:sp>
        <p:nvSpPr>
          <p:cNvPr id="3" name="Content Placeholder 2"/>
          <p:cNvSpPr>
            <a:spLocks noGrp="1"/>
          </p:cNvSpPr>
          <p:nvPr>
            <p:ph idx="1"/>
          </p:nvPr>
        </p:nvSpPr>
        <p:spPr>
          <a:xfrm>
            <a:off x="1366887" y="1376313"/>
            <a:ext cx="7319913" cy="4623503"/>
          </a:xfrm>
        </p:spPr>
        <p:txBody>
          <a:bodyPr>
            <a:normAutofit fontScale="70000" lnSpcReduction="20000"/>
          </a:bodyPr>
          <a:lstStyle/>
          <a:p>
            <a:pPr marL="0" indent="0">
              <a:buNone/>
            </a:pPr>
            <a:r>
              <a:rPr lang="en-US" b="1" dirty="0"/>
              <a:t>2.1 Install Bind9</a:t>
            </a:r>
            <a:endParaRPr lang="en-US" dirty="0"/>
          </a:p>
          <a:p>
            <a:pPr marL="0" indent="0">
              <a:buNone/>
            </a:pPr>
            <a:r>
              <a:rPr lang="en-US" dirty="0" err="1"/>
              <a:t>sudo</a:t>
            </a:r>
            <a:r>
              <a:rPr lang="en-US" dirty="0"/>
              <a:t> apt install bind9 bind9utils bind9-doc</a:t>
            </a:r>
            <a:endParaRPr lang="en-US" dirty="0"/>
          </a:p>
          <a:p>
            <a:pPr marL="0" indent="0">
              <a:buNone/>
            </a:pPr>
            <a:endParaRPr lang="en-US" dirty="0"/>
          </a:p>
          <a:p>
            <a:pPr marL="0" indent="0">
              <a:buNone/>
            </a:pPr>
            <a:r>
              <a:rPr lang="en-US" b="1" dirty="0"/>
              <a:t>2.2 Configure </a:t>
            </a:r>
            <a:r>
              <a:rPr lang="en-US" b="1" dirty="0" err="1"/>
              <a:t>named.conf.local</a:t>
            </a:r>
            <a:endParaRPr lang="en-US" dirty="0"/>
          </a:p>
          <a:p>
            <a:pPr marL="0" indent="0">
              <a:buNone/>
            </a:pPr>
            <a:r>
              <a:rPr lang="en-US" dirty="0"/>
              <a:t>Add zone:</a:t>
            </a:r>
            <a:endParaRPr lang="en-US" dirty="0"/>
          </a:p>
          <a:p>
            <a:pPr marL="0" indent="0">
              <a:buNone/>
            </a:pPr>
            <a:r>
              <a:rPr lang="en-US" dirty="0"/>
              <a:t>zone "</a:t>
            </a:r>
            <a:r>
              <a:rPr lang="en-US" dirty="0" err="1"/>
              <a:t>mydomain.local</a:t>
            </a:r>
            <a:r>
              <a:rPr lang="en-US" dirty="0"/>
              <a:t>" {</a:t>
            </a:r>
            <a:endParaRPr lang="en-US" dirty="0"/>
          </a:p>
          <a:p>
            <a:pPr marL="0" indent="0">
              <a:buNone/>
            </a:pPr>
            <a:r>
              <a:rPr lang="en-US" dirty="0"/>
              <a:t>	type master;</a:t>
            </a:r>
            <a:endParaRPr lang="en-US" dirty="0"/>
          </a:p>
          <a:p>
            <a:pPr marL="0" indent="0">
              <a:buNone/>
            </a:pPr>
            <a:r>
              <a:rPr lang="en-US" dirty="0"/>
              <a:t>	file "/</a:t>
            </a:r>
            <a:r>
              <a:rPr lang="en-US" dirty="0" err="1"/>
              <a:t>etc</a:t>
            </a:r>
            <a:r>
              <a:rPr lang="en-US" dirty="0"/>
              <a:t>/bind/</a:t>
            </a:r>
            <a:r>
              <a:rPr lang="en-US" dirty="0" err="1"/>
              <a:t>db.mydomain.local</a:t>
            </a:r>
            <a:r>
              <a:rPr lang="en-US" dirty="0"/>
              <a:t>";</a:t>
            </a:r>
            <a:endParaRPr lang="en-US" dirty="0"/>
          </a:p>
          <a:p>
            <a:pPr marL="0" indent="0">
              <a:buNone/>
            </a:pPr>
            <a:r>
              <a:rPr lang="en-US" dirty="0"/>
              <a:t>	};</a:t>
            </a:r>
            <a:endParaRPr lang="en-US" dirty="0"/>
          </a:p>
          <a:p>
            <a:pPr marL="0" indent="0">
              <a:buNone/>
            </a:pPr>
            <a:endParaRPr lang="en-US" dirty="0"/>
          </a:p>
          <a:p>
            <a:pPr marL="0" indent="0">
              <a:buNone/>
            </a:pPr>
            <a:r>
              <a:rPr lang="en-US" b="1" dirty="0"/>
              <a:t>2.3 Create Zone File</a:t>
            </a:r>
            <a:endParaRPr lang="en-US" dirty="0"/>
          </a:p>
          <a:p>
            <a:pPr marL="0" indent="0">
              <a:buNone/>
            </a:pPr>
            <a:r>
              <a:rPr lang="en-US" dirty="0"/>
              <a:t>Path:</a:t>
            </a:r>
            <a:endParaRPr lang="en-US" dirty="0"/>
          </a:p>
          <a:p>
            <a:pPr marL="0" indent="0">
              <a:buNone/>
            </a:pPr>
            <a:r>
              <a:rPr lang="en-US" dirty="0"/>
              <a:t>/</a:t>
            </a:r>
            <a:r>
              <a:rPr lang="en-US" dirty="0" err="1"/>
              <a:t>etc</a:t>
            </a:r>
            <a:r>
              <a:rPr lang="en-US" dirty="0"/>
              <a:t>/bind/</a:t>
            </a:r>
            <a:r>
              <a:rPr lang="en-US" dirty="0" err="1"/>
              <a:t>db.mydomain.local</a:t>
            </a:r>
            <a:endParaRPr lang="en-US" dirty="0"/>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753386" y="495504"/>
            <a:ext cx="6938128" cy="5866991"/>
          </a:xfrm>
          <a:prstGeom prst="rect">
            <a:avLst/>
          </a:prstGeom>
          <a:noFill/>
        </p:spPr>
        <p:txBody>
          <a:bodyPr wrap="square">
            <a:spAutoFit/>
          </a:bodyPr>
          <a:lstStyle/>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Example zone: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IN  SOA ns1.mydomain.local.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admin.mydomain.local</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2 ; Serial</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604800 ; Refresh</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86400 ; Retry</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2419200 ; Expire</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604800 ) ; Negative Cache TTL</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IN      NS      ns1</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ns1     IN      A       192.168.56.105</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www     IN      A       192.168.56.102</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2.4 DNS Resolution Testing</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nslookup</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www.mydomain.local</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5000"/>
              </a:lnSpc>
              <a:spcAft>
                <a:spcPts val="800"/>
              </a:spcAft>
              <a:buNone/>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dig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ftp.mydomain.local</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1234911" y="395926"/>
            <a:ext cx="3671887" cy="369332"/>
          </a:xfrm>
          <a:prstGeom prst="rect">
            <a:avLst/>
          </a:prstGeom>
          <a:noFill/>
        </p:spPr>
        <p:txBody>
          <a:bodyPr wrap="square" rtlCol="0">
            <a:spAutoFit/>
          </a:bodyPr>
          <a:lstStyle/>
          <a:p>
            <a:r>
              <a:rPr lang="en-US" dirty="0"/>
              <a:t>Screenshots:</a:t>
            </a:r>
            <a:endParaRPr lang="en-US" dirty="0"/>
          </a:p>
        </p:txBody>
      </p:sp>
      <p:pic>
        <p:nvPicPr>
          <p:cNvPr id="17" name="Picture 16"/>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28613" y="981096"/>
            <a:ext cx="2851535" cy="2016247"/>
          </a:xfrm>
          <a:prstGeom prst="rect">
            <a:avLst/>
          </a:prstGeom>
          <a:noFill/>
          <a:ln>
            <a:noFill/>
          </a:ln>
        </p:spPr>
      </p:pic>
      <p:pic>
        <p:nvPicPr>
          <p:cNvPr id="22" name="Picture 2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00340" y="25505"/>
            <a:ext cx="4687479" cy="2943013"/>
          </a:xfrm>
          <a:prstGeom prst="rect">
            <a:avLst/>
          </a:prstGeom>
          <a:noFill/>
          <a:ln>
            <a:noFill/>
          </a:ln>
        </p:spPr>
      </p:pic>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00340" y="1499344"/>
            <a:ext cx="4687479" cy="2789852"/>
          </a:xfrm>
          <a:prstGeom prst="rect">
            <a:avLst/>
          </a:prstGeom>
          <a:noFill/>
          <a:ln>
            <a:noFill/>
          </a:ln>
        </p:spPr>
      </p:pic>
      <p:pic>
        <p:nvPicPr>
          <p:cNvPr id="24" name="Picture 2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900339" y="4332605"/>
            <a:ext cx="4687479" cy="2129469"/>
          </a:xfrm>
          <a:prstGeom prst="rect">
            <a:avLst/>
          </a:prstGeom>
          <a:noFill/>
          <a:ln>
            <a:noFill/>
          </a:ln>
        </p:spPr>
      </p:pic>
      <p:pic>
        <p:nvPicPr>
          <p:cNvPr id="25" name="Picture 24"/>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8613" y="3072542"/>
            <a:ext cx="2851535" cy="220646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853125"/>
          </a:xfrm>
        </p:spPr>
        <p:txBody>
          <a:bodyPr/>
          <a:lstStyle/>
          <a:p>
            <a:r>
              <a:rPr dirty="0"/>
              <a:t>Mail Server (Postfix)</a:t>
            </a:r>
            <a:endParaRPr dirty="0"/>
          </a:p>
        </p:txBody>
      </p:sp>
      <p:sp>
        <p:nvSpPr>
          <p:cNvPr id="3" name="Content Placeholder 2"/>
          <p:cNvSpPr>
            <a:spLocks noGrp="1"/>
          </p:cNvSpPr>
          <p:nvPr>
            <p:ph idx="1"/>
          </p:nvPr>
        </p:nvSpPr>
        <p:spPr>
          <a:xfrm>
            <a:off x="1574276" y="1442301"/>
            <a:ext cx="7112524" cy="4557515"/>
          </a:xfrm>
        </p:spPr>
        <p:txBody>
          <a:bodyPr>
            <a:normAutofit fontScale="77500" lnSpcReduction="20000"/>
          </a:bodyPr>
          <a:lstStyle/>
          <a:p>
            <a:pPr marL="0" indent="0">
              <a:buNone/>
            </a:pPr>
            <a:r>
              <a:rPr lang="en-US" sz="1600" b="1" dirty="0"/>
              <a:t>3.1 Installation</a:t>
            </a:r>
            <a:endParaRPr lang="en-US" sz="1600" dirty="0"/>
          </a:p>
          <a:p>
            <a:pPr marL="0" indent="0">
              <a:buNone/>
            </a:pPr>
            <a:r>
              <a:rPr lang="en-US" sz="1600" dirty="0" err="1"/>
              <a:t>sudo</a:t>
            </a:r>
            <a:r>
              <a:rPr lang="en-US" sz="1600" dirty="0"/>
              <a:t> apt install postfix </a:t>
            </a:r>
            <a:r>
              <a:rPr lang="en-US" sz="1600" dirty="0" err="1"/>
              <a:t>mailutils</a:t>
            </a:r>
            <a:endParaRPr lang="en-US" sz="1600" dirty="0"/>
          </a:p>
          <a:p>
            <a:pPr marL="0" indent="0">
              <a:buNone/>
            </a:pPr>
            <a:r>
              <a:rPr lang="en-US" sz="1600" dirty="0"/>
              <a:t>Select: </a:t>
            </a:r>
            <a:r>
              <a:rPr lang="en-US" sz="1600" b="1" dirty="0"/>
              <a:t>Local Only</a:t>
            </a:r>
            <a:endParaRPr lang="en-US" sz="1600" dirty="0"/>
          </a:p>
          <a:p>
            <a:pPr marL="0" indent="0">
              <a:buNone/>
            </a:pPr>
            <a:endParaRPr lang="en-US" sz="1600" b="1" dirty="0"/>
          </a:p>
          <a:p>
            <a:pPr marL="0" indent="0">
              <a:buNone/>
            </a:pPr>
            <a:r>
              <a:rPr lang="en-US" sz="1600" b="1" dirty="0"/>
              <a:t>3.2 Configuration File</a:t>
            </a:r>
            <a:endParaRPr lang="en-US" sz="1600" dirty="0"/>
          </a:p>
          <a:p>
            <a:pPr marL="0" indent="0">
              <a:buNone/>
            </a:pPr>
            <a:r>
              <a:rPr lang="en-US" sz="1600" dirty="0"/>
              <a:t>/etc/postfix/main.cf</a:t>
            </a:r>
            <a:endParaRPr lang="en-US" sz="1600" dirty="0"/>
          </a:p>
          <a:p>
            <a:pPr marL="0" indent="0">
              <a:buNone/>
            </a:pPr>
            <a:endParaRPr lang="en-US" sz="1600" dirty="0"/>
          </a:p>
          <a:p>
            <a:pPr marL="0" indent="0">
              <a:buNone/>
            </a:pPr>
            <a:r>
              <a:rPr lang="en-US" sz="1600" dirty="0"/>
              <a:t>Set:</a:t>
            </a:r>
            <a:endParaRPr lang="en-US" sz="1600" dirty="0"/>
          </a:p>
          <a:p>
            <a:pPr marL="0" indent="0">
              <a:buNone/>
            </a:pPr>
            <a:r>
              <a:rPr lang="en-US" sz="1600" dirty="0" err="1"/>
              <a:t>myhostname</a:t>
            </a:r>
            <a:r>
              <a:rPr lang="en-US" sz="1600" dirty="0"/>
              <a:t> = </a:t>
            </a:r>
            <a:r>
              <a:rPr lang="en-US" sz="1600" dirty="0" err="1"/>
              <a:t>mail.mydomain.local</a:t>
            </a:r>
            <a:endParaRPr lang="en-US" sz="1600" dirty="0"/>
          </a:p>
          <a:p>
            <a:pPr marL="0" indent="0">
              <a:buNone/>
            </a:pPr>
            <a:r>
              <a:rPr lang="en-US" sz="1600" dirty="0" err="1"/>
              <a:t>mydestination</a:t>
            </a:r>
            <a:r>
              <a:rPr lang="en-US" sz="1600" dirty="0"/>
              <a:t> = $</a:t>
            </a:r>
            <a:r>
              <a:rPr lang="en-US" sz="1600" dirty="0" err="1"/>
              <a:t>myhostname</a:t>
            </a:r>
            <a:r>
              <a:rPr lang="en-US" sz="1600" dirty="0"/>
              <a:t>, </a:t>
            </a:r>
            <a:r>
              <a:rPr lang="en-US" sz="1600" dirty="0" err="1"/>
              <a:t>localhost.localdomain</a:t>
            </a:r>
            <a:r>
              <a:rPr lang="en-US" sz="1600" dirty="0"/>
              <a:t>, localhost</a:t>
            </a:r>
            <a:endParaRPr lang="en-US" sz="1600" dirty="0"/>
          </a:p>
          <a:p>
            <a:pPr marL="0" indent="0">
              <a:buNone/>
            </a:pPr>
            <a:r>
              <a:rPr lang="en-US" sz="1600" dirty="0"/>
              <a:t> </a:t>
            </a:r>
            <a:endParaRPr lang="en-US" sz="1600" dirty="0"/>
          </a:p>
          <a:p>
            <a:pPr marL="0" indent="0">
              <a:buNone/>
            </a:pPr>
            <a:r>
              <a:rPr lang="en-US" sz="1600" b="1" dirty="0"/>
              <a:t>3.3 Send Test Mail</a:t>
            </a:r>
            <a:endParaRPr lang="en-US" sz="1600" dirty="0"/>
          </a:p>
          <a:p>
            <a:pPr marL="0" indent="0">
              <a:buNone/>
            </a:pPr>
            <a:r>
              <a:rPr lang="en-US" sz="1600" dirty="0"/>
              <a:t>echo "Hello </a:t>
            </a:r>
            <a:r>
              <a:rPr lang="en-US" sz="1600" dirty="0" err="1"/>
              <a:t>Maildir</a:t>
            </a:r>
            <a:r>
              <a:rPr lang="en-US" sz="1600" dirty="0"/>
              <a:t>" | mail -s "Test Mail"</a:t>
            </a:r>
            <a:r>
              <a:rPr lang="en-US" sz="1600" u="sng" dirty="0">
                <a:hlinkClick r:id="rId1"/>
              </a:rPr>
              <a:t>user1@mydomain.local</a:t>
            </a:r>
            <a:endParaRPr lang="en-US" sz="1600" dirty="0"/>
          </a:p>
          <a:p>
            <a:pPr marL="0" indent="0">
              <a:buNone/>
            </a:pPr>
            <a:endParaRPr lang="en-US" sz="1600" dirty="0"/>
          </a:p>
          <a:p>
            <a:pPr marL="0" indent="0">
              <a:buNone/>
            </a:pPr>
            <a:r>
              <a:rPr lang="en-US" sz="1600" b="1" dirty="0"/>
              <a:t>3.4 Logs</a:t>
            </a:r>
            <a:endParaRPr lang="en-US" sz="1600" dirty="0"/>
          </a:p>
          <a:p>
            <a:pPr marL="0" indent="0">
              <a:buNone/>
            </a:pPr>
            <a:r>
              <a:rPr lang="en-US" sz="1600" dirty="0" err="1"/>
              <a:t>sudo</a:t>
            </a:r>
            <a:r>
              <a:rPr lang="en-US" sz="1600" dirty="0"/>
              <a:t> tail -f /var/log/mail.log</a:t>
            </a:r>
            <a:endParaRPr lang="en-US" sz="1600" dirty="0"/>
          </a:p>
          <a:p>
            <a:pPr marL="0" indent="0">
              <a:buNone/>
            </a:pPr>
            <a:r>
              <a:rPr lang="en-US" sz="1600" dirty="0"/>
              <a:t> </a:t>
            </a:r>
            <a:endParaRPr lang="en-US" sz="1600" dirty="0"/>
          </a:p>
          <a:p>
            <a:pPr marL="0" indent="0">
              <a:buNone/>
            </a:pPr>
            <a:endParaRPr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1234911" y="395926"/>
            <a:ext cx="3671887" cy="369332"/>
          </a:xfrm>
          <a:prstGeom prst="rect">
            <a:avLst/>
          </a:prstGeom>
          <a:noFill/>
        </p:spPr>
        <p:txBody>
          <a:bodyPr wrap="square" rtlCol="0">
            <a:spAutoFit/>
          </a:bodyPr>
          <a:lstStyle/>
          <a:p>
            <a:r>
              <a:rPr lang="en-US" dirty="0"/>
              <a:t>Screenshots:</a:t>
            </a:r>
            <a:endParaRPr lang="en-US" dirty="0"/>
          </a:p>
        </p:txBody>
      </p:sp>
      <p:pic>
        <p:nvPicPr>
          <p:cNvPr id="2" name="Picture 1"/>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987458" y="1042448"/>
            <a:ext cx="3094348" cy="2274101"/>
          </a:xfrm>
          <a:prstGeom prst="rect">
            <a:avLst/>
          </a:prstGeom>
          <a:noFill/>
          <a:ln>
            <a:noFill/>
          </a:ln>
        </p:spPr>
      </p:pic>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87458" y="3429001"/>
            <a:ext cx="3094348" cy="2076254"/>
          </a:xfrm>
          <a:prstGeom prst="rect">
            <a:avLst/>
          </a:prstGeom>
          <a:noFill/>
          <a:ln>
            <a:noFill/>
          </a:ln>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92571" y="2064702"/>
            <a:ext cx="4696905" cy="899795"/>
          </a:xfrm>
          <a:prstGeom prst="rect">
            <a:avLst/>
          </a:prstGeom>
          <a:noFill/>
          <a:ln>
            <a:noFill/>
          </a:ln>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92571" y="3200132"/>
            <a:ext cx="4696905" cy="319151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7198"/>
          </a:xfrm>
        </p:spPr>
        <p:txBody>
          <a:bodyPr>
            <a:normAutofit fontScale="90000"/>
          </a:bodyPr>
          <a:lstStyle/>
          <a:p>
            <a:r>
              <a:rPr dirty="0"/>
              <a:t>FTP Server (vsftpd)</a:t>
            </a:r>
            <a:endParaRPr dirty="0"/>
          </a:p>
        </p:txBody>
      </p:sp>
      <p:sp>
        <p:nvSpPr>
          <p:cNvPr id="3" name="Content Placeholder 2"/>
          <p:cNvSpPr>
            <a:spLocks noGrp="1"/>
          </p:cNvSpPr>
          <p:nvPr>
            <p:ph idx="1"/>
          </p:nvPr>
        </p:nvSpPr>
        <p:spPr>
          <a:xfrm>
            <a:off x="1640264" y="1159498"/>
            <a:ext cx="7046535" cy="4966666"/>
          </a:xfrm>
        </p:spPr>
        <p:txBody>
          <a:bodyPr>
            <a:normAutofit/>
          </a:bodyPr>
          <a:lstStyle/>
          <a:p>
            <a:pPr marL="0" indent="0">
              <a:buNone/>
            </a:pPr>
            <a:r>
              <a:rPr lang="en-US" sz="1000" b="1" dirty="0"/>
              <a:t>4.1 Installation</a:t>
            </a:r>
            <a:endParaRPr lang="en-US" sz="1000" dirty="0"/>
          </a:p>
          <a:p>
            <a:pPr marL="0" indent="0">
              <a:buNone/>
            </a:pPr>
            <a:r>
              <a:rPr lang="en-US" sz="1000" dirty="0" err="1"/>
              <a:t>sudo</a:t>
            </a:r>
            <a:r>
              <a:rPr lang="en-US" sz="1000" dirty="0"/>
              <a:t> apt install vsftpd</a:t>
            </a:r>
            <a:endParaRPr lang="en-US" sz="1000" dirty="0"/>
          </a:p>
          <a:p>
            <a:pPr marL="0" indent="0">
              <a:buNone/>
            </a:pPr>
            <a:r>
              <a:rPr lang="en-US" sz="1000" b="1" dirty="0"/>
              <a:t>4.2 Important Configurations</a:t>
            </a:r>
            <a:endParaRPr lang="en-US" sz="1000" dirty="0"/>
          </a:p>
          <a:p>
            <a:pPr marL="0" indent="0">
              <a:buNone/>
            </a:pPr>
            <a:r>
              <a:rPr lang="en-US" sz="1000" dirty="0"/>
              <a:t>Edit:</a:t>
            </a:r>
            <a:endParaRPr lang="en-US" sz="1000" dirty="0"/>
          </a:p>
          <a:p>
            <a:pPr marL="0" indent="0">
              <a:buNone/>
            </a:pPr>
            <a:r>
              <a:rPr lang="en-US" sz="1000" dirty="0"/>
              <a:t>/</a:t>
            </a:r>
            <a:r>
              <a:rPr lang="en-US" sz="1000" dirty="0" err="1"/>
              <a:t>etc</a:t>
            </a:r>
            <a:r>
              <a:rPr lang="en-US" sz="1000" dirty="0"/>
              <a:t>/</a:t>
            </a:r>
            <a:r>
              <a:rPr lang="en-US" sz="1000" dirty="0" err="1"/>
              <a:t>vsftpd.conf</a:t>
            </a:r>
            <a:endParaRPr lang="en-US" sz="1000" dirty="0"/>
          </a:p>
          <a:p>
            <a:pPr marL="0" indent="0">
              <a:buNone/>
            </a:pPr>
            <a:r>
              <a:rPr lang="en-US" sz="1000" dirty="0"/>
              <a:t>Set:</a:t>
            </a:r>
            <a:endParaRPr lang="en-US" sz="1000" dirty="0"/>
          </a:p>
          <a:p>
            <a:pPr marL="0" indent="0">
              <a:buNone/>
            </a:pPr>
            <a:r>
              <a:rPr lang="en-US" sz="1000" dirty="0" err="1"/>
              <a:t>anonymous_enable</a:t>
            </a:r>
            <a:r>
              <a:rPr lang="en-US" sz="1000" dirty="0"/>
              <a:t>=NO</a:t>
            </a:r>
            <a:endParaRPr lang="en-US" sz="1000" dirty="0"/>
          </a:p>
          <a:p>
            <a:pPr marL="0" indent="0">
              <a:buNone/>
            </a:pPr>
            <a:r>
              <a:rPr lang="en-US" sz="1000" dirty="0" err="1"/>
              <a:t>local_enable</a:t>
            </a:r>
            <a:r>
              <a:rPr lang="en-US" sz="1000" dirty="0"/>
              <a:t>=YES</a:t>
            </a:r>
            <a:endParaRPr lang="en-US" sz="1000" dirty="0"/>
          </a:p>
          <a:p>
            <a:pPr marL="0" indent="0">
              <a:buNone/>
            </a:pPr>
            <a:r>
              <a:rPr lang="en-US" sz="1000" dirty="0" err="1"/>
              <a:t>write_enable</a:t>
            </a:r>
            <a:r>
              <a:rPr lang="en-US" sz="1000" dirty="0"/>
              <a:t>=YES</a:t>
            </a:r>
            <a:endParaRPr lang="en-US" sz="1000" dirty="0"/>
          </a:p>
          <a:p>
            <a:pPr marL="0" indent="0">
              <a:buNone/>
            </a:pPr>
            <a:r>
              <a:rPr lang="en-US" sz="1000" dirty="0" err="1"/>
              <a:t>chroot_local_user</a:t>
            </a:r>
            <a:r>
              <a:rPr lang="en-US" sz="1000" dirty="0"/>
              <a:t>=YES</a:t>
            </a:r>
            <a:endParaRPr lang="en-US" sz="1000" dirty="0"/>
          </a:p>
          <a:p>
            <a:pPr marL="0" indent="0">
              <a:buNone/>
            </a:pPr>
            <a:r>
              <a:rPr lang="en-US" sz="1000" dirty="0"/>
              <a:t>Restart:</a:t>
            </a:r>
            <a:endParaRPr lang="en-US" sz="1000" dirty="0"/>
          </a:p>
          <a:p>
            <a:pPr marL="0" indent="0">
              <a:buNone/>
            </a:pPr>
            <a:r>
              <a:rPr lang="en-US" sz="1000" dirty="0" err="1"/>
              <a:t>sudo</a:t>
            </a:r>
            <a:r>
              <a:rPr lang="en-US" sz="1000" dirty="0"/>
              <a:t> </a:t>
            </a:r>
            <a:r>
              <a:rPr lang="en-US" sz="1000" dirty="0" err="1"/>
              <a:t>systemctl</a:t>
            </a:r>
            <a:r>
              <a:rPr lang="en-US" sz="1000" dirty="0"/>
              <a:t> restart vsftpd</a:t>
            </a:r>
            <a:endParaRPr lang="en-US" sz="1000" dirty="0"/>
          </a:p>
          <a:p>
            <a:pPr marL="0" indent="0">
              <a:buNone/>
            </a:pPr>
            <a:r>
              <a:rPr lang="en-US" sz="1000" b="1" dirty="0"/>
              <a:t>4.3 FTP Login Test</a:t>
            </a:r>
            <a:endParaRPr lang="en-US" sz="1000" dirty="0"/>
          </a:p>
          <a:p>
            <a:pPr marL="0" indent="0">
              <a:buNone/>
            </a:pPr>
            <a:r>
              <a:rPr lang="en-US" sz="1000" u="sng" dirty="0"/>
              <a:t>ftp 192.168.56.101</a:t>
            </a:r>
            <a:endParaRPr lang="en-US" sz="1000" dirty="0"/>
          </a:p>
          <a:p>
            <a:pPr marL="0" indent="0">
              <a:buNone/>
            </a:pPr>
            <a:r>
              <a:rPr lang="en-US" sz="1000" b="1" dirty="0"/>
              <a:t>4.4 Upload / Download Test</a:t>
            </a:r>
            <a:endParaRPr lang="en-US" sz="1000" dirty="0"/>
          </a:p>
          <a:p>
            <a:pPr marL="0" indent="0">
              <a:buNone/>
            </a:pPr>
            <a:r>
              <a:rPr lang="en-US" sz="1000" dirty="0"/>
              <a:t>Commands:</a:t>
            </a:r>
            <a:endParaRPr lang="en-US" sz="1000" dirty="0"/>
          </a:p>
          <a:p>
            <a:pPr marL="0" indent="0">
              <a:buNone/>
            </a:pPr>
            <a:r>
              <a:rPr lang="en-US" sz="1000" dirty="0"/>
              <a:t>put file.txt</a:t>
            </a:r>
            <a:endParaRPr lang="en-US" sz="1000" dirty="0"/>
          </a:p>
          <a:p>
            <a:pPr marL="0" indent="0">
              <a:buNone/>
            </a:pPr>
            <a:r>
              <a:rPr lang="en-US" sz="1000" dirty="0"/>
              <a:t>get file.txt</a:t>
            </a:r>
            <a:endParaRPr lang="en-US" sz="1000" dirty="0"/>
          </a:p>
          <a:p>
            <a:pPr marL="0" indent="0">
              <a:buNone/>
            </a:pPr>
            <a:endParaRPr lang="en-US" sz="1000" dirty="0"/>
          </a:p>
          <a:p>
            <a:endParaRPr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1234911" y="395926"/>
            <a:ext cx="3671887" cy="369332"/>
          </a:xfrm>
          <a:prstGeom prst="rect">
            <a:avLst/>
          </a:prstGeom>
          <a:noFill/>
        </p:spPr>
        <p:txBody>
          <a:bodyPr wrap="square" rtlCol="0">
            <a:spAutoFit/>
          </a:bodyPr>
          <a:lstStyle/>
          <a:p>
            <a:r>
              <a:rPr lang="en-US" dirty="0"/>
              <a:t>Screenshots:</a:t>
            </a:r>
            <a:endParaRPr 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261674" y="86528"/>
            <a:ext cx="5465825" cy="1874247"/>
          </a:xfrm>
          <a:prstGeom prst="rect">
            <a:avLst/>
          </a:prstGeom>
          <a:noFill/>
          <a:ln>
            <a:noFill/>
          </a:ln>
        </p:spPr>
      </p:pic>
      <p:pic>
        <p:nvPicPr>
          <p:cNvPr id="7"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1530" y="2005593"/>
            <a:ext cx="5942330" cy="1608828"/>
          </a:xfrm>
          <a:prstGeom prst="rect">
            <a:avLst/>
          </a:prstGeom>
          <a:noFill/>
          <a:ln>
            <a:noFill/>
          </a:ln>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84534" y="3733013"/>
            <a:ext cx="5942965" cy="29317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9189"/>
          </a:xfrm>
        </p:spPr>
        <p:txBody>
          <a:bodyPr>
            <a:normAutofit fontScale="90000"/>
          </a:bodyPr>
          <a:lstStyle/>
          <a:p>
            <a:r>
              <a:rPr dirty="0"/>
              <a:t>Security Hardening</a:t>
            </a:r>
            <a:endParaRPr dirty="0"/>
          </a:p>
        </p:txBody>
      </p:sp>
      <p:sp>
        <p:nvSpPr>
          <p:cNvPr id="3" name="Content Placeholder 2"/>
          <p:cNvSpPr>
            <a:spLocks noGrp="1"/>
          </p:cNvSpPr>
          <p:nvPr>
            <p:ph idx="1"/>
          </p:nvPr>
        </p:nvSpPr>
        <p:spPr>
          <a:xfrm>
            <a:off x="1593130" y="1253766"/>
            <a:ext cx="7093670" cy="4872398"/>
          </a:xfrm>
        </p:spPr>
        <p:txBody>
          <a:bodyPr>
            <a:normAutofit fontScale="62500" lnSpcReduction="20000"/>
          </a:bodyPr>
          <a:lstStyle/>
          <a:p>
            <a:pPr marL="0" indent="0">
              <a:buNone/>
            </a:pPr>
            <a:r>
              <a:rPr lang="en-US" b="1" dirty="0"/>
              <a:t>1)UFW Firewall</a:t>
            </a:r>
            <a:endParaRPr lang="en-US" dirty="0"/>
          </a:p>
          <a:p>
            <a:pPr marL="0" lvl="0" indent="0">
              <a:buNone/>
            </a:pPr>
            <a:r>
              <a:rPr lang="en-US" dirty="0"/>
              <a:t>Allowed required ports: </a:t>
            </a:r>
            <a:r>
              <a:rPr lang="en-US" b="1" dirty="0"/>
              <a:t>22, 80, 443, 53, 25, 21</a:t>
            </a:r>
            <a:endParaRPr lang="en-US" dirty="0"/>
          </a:p>
          <a:p>
            <a:pPr marL="0" lvl="0" indent="0">
              <a:buNone/>
            </a:pPr>
            <a:r>
              <a:rPr lang="en-US" dirty="0"/>
              <a:t>Denied everything else:</a:t>
            </a:r>
            <a:endParaRPr lang="en-US" dirty="0"/>
          </a:p>
          <a:p>
            <a:pPr marL="0" indent="0">
              <a:buNone/>
            </a:pPr>
            <a:r>
              <a:rPr lang="en-US" dirty="0" err="1"/>
              <a:t>sudo</a:t>
            </a:r>
            <a:r>
              <a:rPr lang="en-US" dirty="0"/>
              <a:t> </a:t>
            </a:r>
            <a:r>
              <a:rPr lang="en-US" dirty="0" err="1"/>
              <a:t>ufw</a:t>
            </a:r>
            <a:r>
              <a:rPr lang="en-US" dirty="0"/>
              <a:t> default deny incoming</a:t>
            </a:r>
            <a:endParaRPr lang="en-US" dirty="0"/>
          </a:p>
          <a:p>
            <a:pPr marL="0" indent="0">
              <a:buNone/>
            </a:pPr>
            <a:r>
              <a:rPr lang="en-US" dirty="0" err="1"/>
              <a:t>sudo</a:t>
            </a:r>
            <a:r>
              <a:rPr lang="en-US" dirty="0"/>
              <a:t> </a:t>
            </a:r>
            <a:r>
              <a:rPr lang="en-US" dirty="0" err="1"/>
              <a:t>ufw</a:t>
            </a:r>
            <a:r>
              <a:rPr lang="en-US" dirty="0"/>
              <a:t> default allow outgoing</a:t>
            </a:r>
            <a:endParaRPr lang="en-US" dirty="0"/>
          </a:p>
          <a:p>
            <a:endParaRPr lang="en-US" dirty="0"/>
          </a:p>
          <a:p>
            <a:pPr marL="0" indent="0">
              <a:buNone/>
            </a:pPr>
            <a:r>
              <a:rPr lang="en-US" b="1" dirty="0"/>
              <a:t>2)Fail2ban</a:t>
            </a:r>
            <a:endParaRPr lang="en-US" dirty="0"/>
          </a:p>
          <a:p>
            <a:pPr marL="0" indent="0">
              <a:buNone/>
            </a:pPr>
            <a:r>
              <a:rPr lang="en-US" dirty="0"/>
              <a:t>Installation:</a:t>
            </a:r>
            <a:endParaRPr lang="en-US" dirty="0"/>
          </a:p>
          <a:p>
            <a:pPr marL="0" indent="0">
              <a:buNone/>
            </a:pPr>
            <a:r>
              <a:rPr lang="en-US" dirty="0" err="1"/>
              <a:t>sudo</a:t>
            </a:r>
            <a:r>
              <a:rPr lang="en-US" dirty="0"/>
              <a:t> apt install fail2ban</a:t>
            </a:r>
            <a:endParaRPr lang="en-US" dirty="0"/>
          </a:p>
          <a:p>
            <a:pPr marL="0" indent="0">
              <a:buNone/>
            </a:pPr>
            <a:r>
              <a:rPr lang="en-US" dirty="0"/>
              <a:t> </a:t>
            </a:r>
            <a:endParaRPr lang="en-US" dirty="0"/>
          </a:p>
          <a:p>
            <a:pPr marL="0" indent="0">
              <a:buNone/>
            </a:pPr>
            <a:r>
              <a:rPr lang="en-US" dirty="0"/>
              <a:t>Configured jail:</a:t>
            </a:r>
            <a:endParaRPr lang="en-US" dirty="0"/>
          </a:p>
          <a:p>
            <a:pPr marL="0" indent="0">
              <a:buNone/>
            </a:pPr>
            <a:r>
              <a:rPr lang="en-US" dirty="0"/>
              <a:t>/</a:t>
            </a:r>
            <a:r>
              <a:rPr lang="en-US" dirty="0" err="1"/>
              <a:t>etc</a:t>
            </a:r>
            <a:r>
              <a:rPr lang="en-US" dirty="0"/>
              <a:t>/fail2ban/</a:t>
            </a:r>
            <a:r>
              <a:rPr lang="en-US" dirty="0" err="1"/>
              <a:t>jail.local</a:t>
            </a:r>
            <a:endParaRPr lang="en-US" dirty="0"/>
          </a:p>
          <a:p>
            <a:pPr marL="0" indent="0">
              <a:buNone/>
            </a:pPr>
            <a:r>
              <a:rPr lang="en-US" dirty="0"/>
              <a:t> </a:t>
            </a:r>
            <a:endParaRPr lang="en-US" dirty="0"/>
          </a:p>
          <a:p>
            <a:pPr marL="0" indent="0">
              <a:buNone/>
            </a:pPr>
            <a:r>
              <a:rPr lang="en-US" dirty="0"/>
              <a:t>Enabled:</a:t>
            </a:r>
            <a:endParaRPr lang="en-US" dirty="0"/>
          </a:p>
          <a:p>
            <a:pPr marL="0" indent="0">
              <a:buNone/>
            </a:pPr>
            <a:r>
              <a:rPr lang="en-US" dirty="0" err="1"/>
              <a:t>sudo</a:t>
            </a:r>
            <a:r>
              <a:rPr lang="en-US" dirty="0"/>
              <a:t> </a:t>
            </a:r>
            <a:r>
              <a:rPr lang="en-US" dirty="0" err="1"/>
              <a:t>systemctl</a:t>
            </a:r>
            <a:r>
              <a:rPr lang="en-US" dirty="0"/>
              <a:t> enable --now fail2ban</a:t>
            </a:r>
            <a:endParaRPr 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382704" y="1100710"/>
            <a:ext cx="3638747" cy="2622878"/>
          </a:xfrm>
          <a:prstGeom prst="rect">
            <a:avLst/>
          </a:prstGeom>
          <a:noFill/>
          <a:ln>
            <a:noFill/>
          </a:ln>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22829" y="3940405"/>
            <a:ext cx="4298622" cy="251569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49690" y="772998"/>
            <a:ext cx="7037109" cy="5353166"/>
          </a:xfrm>
        </p:spPr>
        <p:txBody>
          <a:bodyPr>
            <a:normAutofit fontScale="62500" lnSpcReduction="20000"/>
          </a:bodyPr>
          <a:lstStyle/>
          <a:p>
            <a:pPr marL="0" indent="0">
              <a:buNone/>
            </a:pPr>
            <a:r>
              <a:rPr lang="en-US" b="1" dirty="0"/>
              <a:t>3) SSH Hardening</a:t>
            </a:r>
            <a:endParaRPr lang="en-US" dirty="0"/>
          </a:p>
          <a:p>
            <a:pPr marL="0" indent="0">
              <a:buNone/>
            </a:pPr>
            <a:r>
              <a:rPr lang="en-US" dirty="0"/>
              <a:t>File:</a:t>
            </a:r>
            <a:endParaRPr lang="en-US" dirty="0"/>
          </a:p>
          <a:p>
            <a:pPr marL="0" indent="0">
              <a:buNone/>
            </a:pPr>
            <a:r>
              <a:rPr lang="en-US" dirty="0"/>
              <a:t>/</a:t>
            </a:r>
            <a:r>
              <a:rPr lang="en-US" dirty="0" err="1"/>
              <a:t>etc</a:t>
            </a:r>
            <a:r>
              <a:rPr lang="en-US" dirty="0"/>
              <a:t>/ssh/</a:t>
            </a:r>
            <a:r>
              <a:rPr lang="en-US" dirty="0" err="1"/>
              <a:t>sshd_config</a:t>
            </a:r>
            <a:endParaRPr lang="en-US" dirty="0"/>
          </a:p>
          <a:p>
            <a:pPr marL="0" indent="0">
              <a:buNone/>
            </a:pPr>
            <a:r>
              <a:rPr lang="en-US" dirty="0"/>
              <a:t> </a:t>
            </a:r>
            <a:endParaRPr lang="en-US" dirty="0"/>
          </a:p>
          <a:p>
            <a:pPr marL="0" indent="0">
              <a:buNone/>
            </a:pPr>
            <a:r>
              <a:rPr lang="en-US" dirty="0"/>
              <a:t>Set:</a:t>
            </a:r>
            <a:endParaRPr lang="en-US" dirty="0"/>
          </a:p>
          <a:p>
            <a:pPr marL="0" indent="0">
              <a:buNone/>
            </a:pPr>
            <a:r>
              <a:rPr lang="en-US" dirty="0" err="1"/>
              <a:t>PermitRootLogin</a:t>
            </a:r>
            <a:r>
              <a:rPr lang="en-US" dirty="0"/>
              <a:t> no</a:t>
            </a:r>
            <a:endParaRPr lang="en-US" dirty="0"/>
          </a:p>
          <a:p>
            <a:pPr marL="0" indent="0">
              <a:buNone/>
            </a:pPr>
            <a:r>
              <a:rPr lang="en-US" dirty="0" err="1"/>
              <a:t>PasswordAuthentication</a:t>
            </a:r>
            <a:r>
              <a:rPr lang="en-US" dirty="0"/>
              <a:t> yes/no</a:t>
            </a:r>
            <a:endParaRPr lang="en-US" dirty="0"/>
          </a:p>
          <a:p>
            <a:pPr marL="0" indent="0">
              <a:buNone/>
            </a:pPr>
            <a:r>
              <a:rPr lang="en-US" dirty="0" err="1"/>
              <a:t>AllowUsers</a:t>
            </a:r>
            <a:r>
              <a:rPr lang="en-US" dirty="0"/>
              <a:t> </a:t>
            </a:r>
            <a:r>
              <a:rPr lang="en-US" dirty="0" err="1"/>
              <a:t>youruser</a:t>
            </a:r>
            <a:endParaRPr lang="en-US" dirty="0"/>
          </a:p>
          <a:p>
            <a:pPr marL="0" indent="0">
              <a:buNone/>
            </a:pPr>
            <a:r>
              <a:rPr lang="en-US" dirty="0"/>
              <a:t> </a:t>
            </a:r>
            <a:endParaRPr lang="en-US" dirty="0"/>
          </a:p>
          <a:p>
            <a:pPr marL="0" indent="0">
              <a:buNone/>
            </a:pPr>
            <a:r>
              <a:rPr lang="en-US" dirty="0"/>
              <a:t>Restart SSH:</a:t>
            </a:r>
            <a:endParaRPr lang="en-US" dirty="0"/>
          </a:p>
          <a:p>
            <a:pPr marL="0" indent="0">
              <a:buNone/>
            </a:pPr>
            <a:r>
              <a:rPr lang="en-US" dirty="0" err="1"/>
              <a:t>sudo</a:t>
            </a:r>
            <a:r>
              <a:rPr lang="en-US" dirty="0"/>
              <a:t> </a:t>
            </a:r>
            <a:r>
              <a:rPr lang="en-US" dirty="0" err="1"/>
              <a:t>systemctl</a:t>
            </a:r>
            <a:r>
              <a:rPr lang="en-US" dirty="0"/>
              <a:t> restart ssh</a:t>
            </a:r>
            <a:endParaRPr lang="en-US" dirty="0"/>
          </a:p>
          <a:p>
            <a:pPr marL="0" indent="0">
              <a:buNone/>
            </a:pPr>
            <a:endParaRPr lang="en-US" dirty="0"/>
          </a:p>
          <a:p>
            <a:pPr marL="0" indent="0">
              <a:buNone/>
            </a:pPr>
            <a:r>
              <a:rPr lang="en-US" dirty="0"/>
              <a:t>4)</a:t>
            </a:r>
            <a:r>
              <a:rPr lang="en-US" b="1" dirty="0"/>
              <a:t> FTP Hardening</a:t>
            </a:r>
            <a:endParaRPr lang="en-US" dirty="0"/>
          </a:p>
          <a:p>
            <a:pPr marL="0" lvl="0" indent="0">
              <a:buNone/>
            </a:pPr>
            <a:r>
              <a:rPr lang="en-US" b="1" dirty="0"/>
              <a:t>Disabled Anonymous Login</a:t>
            </a:r>
            <a:endParaRPr lang="en-US" dirty="0"/>
          </a:p>
          <a:p>
            <a:pPr marL="0" lvl="0" indent="0">
              <a:buNone/>
            </a:pPr>
            <a:r>
              <a:rPr lang="en-US" b="1" dirty="0"/>
              <a:t>chroot jail enabled</a:t>
            </a:r>
            <a:endParaRPr lang="en-US" dirty="0"/>
          </a:p>
          <a:p>
            <a:pPr marL="0" lvl="0" indent="0">
              <a:buNone/>
            </a:pPr>
            <a:r>
              <a:rPr lang="en-US" b="1" dirty="0"/>
              <a:t>Strong password rules</a:t>
            </a:r>
            <a:endParaRPr lang="en-US" dirty="0"/>
          </a:p>
          <a:p>
            <a:pPr marL="0" lvl="0" indent="0">
              <a:buNone/>
            </a:pPr>
            <a:r>
              <a:rPr lang="en-US" b="1" dirty="0"/>
              <a:t>UFW firewall restricted</a:t>
            </a:r>
            <a:endParaRPr lang="en-US" dirty="0"/>
          </a:p>
          <a:p>
            <a:pPr marL="0" indent="0">
              <a:buNone/>
            </a:pPr>
            <a:endParaRPr lang="en-US" dirty="0"/>
          </a:p>
        </p:txBody>
      </p:sp>
      <p:pic>
        <p:nvPicPr>
          <p:cNvPr id="6" name="Picture 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4305692" y="152924"/>
            <a:ext cx="4630918" cy="3403600"/>
          </a:xfrm>
          <a:prstGeom prst="rect">
            <a:avLst/>
          </a:prstGeom>
          <a:noFill/>
          <a:ln>
            <a:noFill/>
          </a:ln>
        </p:spPr>
      </p:pic>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05692" y="3556524"/>
            <a:ext cx="4630918" cy="30586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1482"/>
          </a:xfrm>
        </p:spPr>
        <p:txBody>
          <a:bodyPr>
            <a:normAutofit fontScale="90000"/>
          </a:bodyPr>
          <a:lstStyle/>
          <a:p>
            <a:r>
              <a:rPr dirty="0"/>
              <a:t>Challenges &amp; Solutions</a:t>
            </a:r>
            <a:endParaRPr dirty="0"/>
          </a:p>
        </p:txBody>
      </p:sp>
      <p:sp>
        <p:nvSpPr>
          <p:cNvPr id="3" name="Content Placeholder 2"/>
          <p:cNvSpPr>
            <a:spLocks noGrp="1"/>
          </p:cNvSpPr>
          <p:nvPr>
            <p:ph idx="1"/>
          </p:nvPr>
        </p:nvSpPr>
        <p:spPr>
          <a:xfrm>
            <a:off x="1150070" y="1244338"/>
            <a:ext cx="7536730" cy="4881825"/>
          </a:xfrm>
        </p:spPr>
        <p:txBody>
          <a:bodyPr>
            <a:normAutofit fontScale="85000" lnSpcReduction="10000"/>
          </a:bodyPr>
          <a:lstStyle/>
          <a:p>
            <a:pPr marL="0" indent="0">
              <a:buNone/>
            </a:pPr>
            <a:r>
              <a:rPr lang="en-US" b="1" dirty="0"/>
              <a:t>1. DNS resolution not working</a:t>
            </a:r>
            <a:endParaRPr lang="en-US" dirty="0"/>
          </a:p>
          <a:p>
            <a:pPr marL="0" indent="0">
              <a:buNone/>
            </a:pPr>
            <a:r>
              <a:rPr lang="en-US" b="1" dirty="0"/>
              <a:t>Reason:</a:t>
            </a:r>
            <a:r>
              <a:rPr lang="en-US" dirty="0"/>
              <a:t> Misconfigured zone file</a:t>
            </a:r>
            <a:br>
              <a:rPr lang="en-US" dirty="0"/>
            </a:br>
            <a:r>
              <a:rPr lang="en-US" b="1" dirty="0"/>
              <a:t>Fix:</a:t>
            </a:r>
            <a:r>
              <a:rPr lang="en-US" dirty="0"/>
              <a:t> Corrected A records and SOA entry</a:t>
            </a:r>
            <a:endParaRPr lang="en-US" dirty="0"/>
          </a:p>
          <a:p>
            <a:pPr marL="0" indent="0">
              <a:buNone/>
            </a:pPr>
            <a:r>
              <a:rPr lang="en-US" dirty="0"/>
              <a:t> </a:t>
            </a:r>
            <a:endParaRPr lang="en-US" dirty="0"/>
          </a:p>
          <a:p>
            <a:pPr marL="0" indent="0">
              <a:buNone/>
            </a:pPr>
            <a:r>
              <a:rPr lang="en-US" b="1" dirty="0"/>
              <a:t>2. UFW blocked SSH accidentally</a:t>
            </a:r>
            <a:endParaRPr lang="en-US" dirty="0"/>
          </a:p>
          <a:p>
            <a:pPr marL="0" indent="0">
              <a:buNone/>
            </a:pPr>
            <a:r>
              <a:rPr lang="en-US" b="1" dirty="0"/>
              <a:t>Fix:</a:t>
            </a:r>
            <a:r>
              <a:rPr lang="en-US" dirty="0"/>
              <a:t> Logged in through VirtualBox console and allowed SSH manually</a:t>
            </a:r>
            <a:endParaRPr lang="en-US" dirty="0"/>
          </a:p>
          <a:p>
            <a:pPr marL="0" indent="0">
              <a:buNone/>
            </a:pPr>
            <a:r>
              <a:rPr lang="en-US" dirty="0"/>
              <a:t> </a:t>
            </a:r>
            <a:endParaRPr lang="en-US" dirty="0"/>
          </a:p>
          <a:p>
            <a:pPr marL="0" indent="0">
              <a:buNone/>
            </a:pPr>
            <a:r>
              <a:rPr lang="en-US" b="1" dirty="0"/>
              <a:t>3. FTP permission issues</a:t>
            </a:r>
            <a:endParaRPr lang="en-US" dirty="0"/>
          </a:p>
          <a:p>
            <a:pPr marL="0" indent="0">
              <a:buNone/>
            </a:pPr>
            <a:r>
              <a:rPr lang="en-US" b="1" dirty="0"/>
              <a:t>Fix:</a:t>
            </a:r>
            <a:r>
              <a:rPr lang="en-US" dirty="0"/>
              <a:t> Set correct ownership and enabled write permissions</a:t>
            </a:r>
            <a:endParaRPr lang="en-US" dirty="0"/>
          </a:p>
          <a:p>
            <a:pPr marL="0" indent="0">
              <a:buNone/>
            </a:pPr>
            <a:r>
              <a:rPr lang="en-US" dirty="0"/>
              <a:t> </a:t>
            </a:r>
            <a:endParaRPr lang="en-US" dirty="0"/>
          </a:p>
          <a:p>
            <a:pPr marL="0" indent="0">
              <a:buNone/>
            </a:pPr>
            <a:r>
              <a:rPr lang="en-US" b="1" dirty="0"/>
              <a:t>4. Postfix mail stuck in queue</a:t>
            </a:r>
            <a:endParaRPr lang="en-US" dirty="0"/>
          </a:p>
          <a:p>
            <a:pPr marL="0" indent="0">
              <a:buNone/>
            </a:pPr>
            <a:r>
              <a:rPr lang="en-US" b="1" dirty="0"/>
              <a:t>Fix:</a:t>
            </a:r>
            <a:r>
              <a:rPr lang="en-US" dirty="0"/>
              <a:t> Started postfix service and fixed hostname configuration</a:t>
            </a:r>
            <a:endParaRPr lang="en-US" dirty="0"/>
          </a:p>
          <a:p>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2310"/>
          </a:xfrm>
        </p:spPr>
        <p:txBody>
          <a:bodyPr/>
          <a:lstStyle/>
          <a:p>
            <a:r>
              <a:rPr dirty="0"/>
              <a:t>Conclusion</a:t>
            </a:r>
            <a:endParaRPr dirty="0"/>
          </a:p>
        </p:txBody>
      </p:sp>
      <p:sp>
        <p:nvSpPr>
          <p:cNvPr id="3" name="Content Placeholder 2"/>
          <p:cNvSpPr>
            <a:spLocks noGrp="1"/>
          </p:cNvSpPr>
          <p:nvPr>
            <p:ph idx="1"/>
          </p:nvPr>
        </p:nvSpPr>
        <p:spPr>
          <a:xfrm>
            <a:off x="1168924" y="1244338"/>
            <a:ext cx="7517876" cy="4881825"/>
          </a:xfrm>
        </p:spPr>
        <p:txBody>
          <a:bodyPr>
            <a:normAutofit fontScale="92500" lnSpcReduction="20000"/>
          </a:bodyPr>
          <a:lstStyle/>
          <a:p>
            <a:pPr marL="0" indent="0">
              <a:buNone/>
            </a:pPr>
            <a:r>
              <a:rPr lang="en-US" dirty="0"/>
              <a:t>This project provided hands-on experience in deploying and securing multiple network services in a virtualized environment. I learned how servers communicate, how DNS and mail routing work, how to secure communication with SSL, and how to protect services using firewall and intrusion prevention tools. The lab reflects real-world system administration practices and strengthened my understanding of cybersecurity fundamentals.</a:t>
            </a:r>
            <a:endParaRPr lang="en-US" dirty="0"/>
          </a:p>
          <a:p>
            <a:pPr marL="0" indent="0">
              <a:buNone/>
            </a:pPr>
            <a:r>
              <a:rPr lang="en-US" dirty="0"/>
              <a:t> </a:t>
            </a:r>
            <a:endParaRPr lang="en-US" dirty="0"/>
          </a:p>
          <a:p>
            <a:pPr marL="0" indent="0">
              <a:buNone/>
            </a:pPr>
            <a:r>
              <a:rPr lang="en-US" dirty="0"/>
              <a:t>In the future, this project can be enhanced by adding:</a:t>
            </a:r>
            <a:endParaRPr lang="en-US" dirty="0"/>
          </a:p>
          <a:p>
            <a:pPr marL="0" lvl="0" indent="0">
              <a:buNone/>
            </a:pPr>
            <a:r>
              <a:rPr lang="en-US" dirty="0"/>
              <a:t>Intrusion Detection Systems (Snort/Suricata)</a:t>
            </a:r>
            <a:endParaRPr lang="en-US" dirty="0"/>
          </a:p>
          <a:p>
            <a:pPr marL="0" lvl="0" indent="0">
              <a:buNone/>
            </a:pPr>
            <a:r>
              <a:rPr lang="en-US" dirty="0"/>
              <a:t>Web Application Firewall (</a:t>
            </a:r>
            <a:r>
              <a:rPr lang="en-US" dirty="0" err="1"/>
              <a:t>ModSecurity</a:t>
            </a:r>
            <a:r>
              <a:rPr lang="en-US" dirty="0"/>
              <a:t>)</a:t>
            </a:r>
            <a:endParaRPr lang="en-US" dirty="0"/>
          </a:p>
          <a:p>
            <a:pPr marL="0" lvl="0" indent="0">
              <a:buNone/>
            </a:pPr>
            <a:r>
              <a:rPr lang="en-US" dirty="0"/>
              <a:t>Load Balancing</a:t>
            </a:r>
            <a:endParaRPr lang="en-US" dirty="0"/>
          </a:p>
          <a:p>
            <a:pPr marL="0" lvl="0" indent="0">
              <a:buNone/>
            </a:pPr>
            <a:r>
              <a:rPr lang="en-US" dirty="0"/>
              <a:t>Cloud deployment (AWS/Azure)</a:t>
            </a:r>
            <a:endParaRPr lang="en-US" dirty="0"/>
          </a:p>
          <a:p>
            <a:pPr marL="0" indent="0">
              <a:buNone/>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37725"/>
          </a:xfrm>
        </p:spPr>
        <p:txBody>
          <a:bodyPr/>
          <a:lstStyle/>
          <a:p>
            <a:r>
              <a:rPr dirty="0"/>
              <a:t>References</a:t>
            </a:r>
            <a:endParaRPr dirty="0"/>
          </a:p>
        </p:txBody>
      </p:sp>
      <p:sp>
        <p:nvSpPr>
          <p:cNvPr id="3" name="Content Placeholder 2"/>
          <p:cNvSpPr>
            <a:spLocks noGrp="1"/>
          </p:cNvSpPr>
          <p:nvPr>
            <p:ph idx="1"/>
          </p:nvPr>
        </p:nvSpPr>
        <p:spPr>
          <a:xfrm>
            <a:off x="1206630" y="1417639"/>
            <a:ext cx="7480169" cy="3993348"/>
          </a:xfrm>
        </p:spPr>
        <p:txBody>
          <a:bodyPr>
            <a:normAutofit/>
          </a:bodyPr>
          <a:lstStyle/>
          <a:p>
            <a:pPr marL="0" lvl="0" indent="0">
              <a:buNone/>
            </a:pPr>
            <a:r>
              <a:rPr lang="en-US" dirty="0"/>
              <a:t>Apache Documentation: </a:t>
            </a:r>
            <a:r>
              <a:rPr lang="en-US" u="sng" dirty="0">
                <a:hlinkClick r:id="rId1"/>
              </a:rPr>
              <a:t>https://httpd.apache.org/</a:t>
            </a:r>
            <a:endParaRPr lang="en-US" u="sng" dirty="0"/>
          </a:p>
          <a:p>
            <a:pPr marL="0" lvl="0" indent="0">
              <a:buNone/>
            </a:pPr>
            <a:endParaRPr lang="en-US" dirty="0"/>
          </a:p>
          <a:p>
            <a:pPr marL="0" lvl="0" indent="0">
              <a:buNone/>
            </a:pPr>
            <a:r>
              <a:rPr lang="en-US" dirty="0"/>
              <a:t>Bind9 DNS Docs: </a:t>
            </a:r>
            <a:r>
              <a:rPr lang="en-US" u="sng" dirty="0">
                <a:hlinkClick r:id="rId2"/>
              </a:rPr>
              <a:t>https://bind9.readthedocs.io/</a:t>
            </a:r>
            <a:endParaRPr lang="en-US" u="sng" dirty="0"/>
          </a:p>
          <a:p>
            <a:pPr marL="0" lvl="0" indent="0">
              <a:buNone/>
            </a:pPr>
            <a:endParaRPr lang="en-US" dirty="0"/>
          </a:p>
          <a:p>
            <a:pPr marL="0" lvl="0" indent="0">
              <a:buNone/>
            </a:pPr>
            <a:r>
              <a:rPr lang="en-US" dirty="0"/>
              <a:t>Postfix Docs: </a:t>
            </a:r>
            <a:r>
              <a:rPr lang="en-US" dirty="0">
                <a:hlinkClick r:id="rId3"/>
              </a:rPr>
              <a:t>http://www.postfix.org/documentation.html</a:t>
            </a:r>
            <a:endParaRPr lang="en-US" dirty="0"/>
          </a:p>
          <a:p>
            <a:pPr marL="0" lvl="0" indent="0">
              <a:buNone/>
            </a:pPr>
            <a:endParaRPr lang="en-US" dirty="0"/>
          </a:p>
          <a:p>
            <a:pPr marL="0" lvl="0" indent="0">
              <a:buNone/>
            </a:pPr>
            <a:r>
              <a:rPr lang="en-US" dirty="0"/>
              <a:t>vsftpd Docs: </a:t>
            </a:r>
            <a:r>
              <a:rPr lang="en-US" u="sng" dirty="0">
                <a:hlinkClick r:id="rId4"/>
              </a:rPr>
              <a:t>https://security.appspot.com/vsftpd.html</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98482" y="2644170"/>
            <a:ext cx="6287678" cy="1569660"/>
          </a:xfrm>
          <a:prstGeom prst="rect">
            <a:avLst/>
          </a:prstGeom>
          <a:noFill/>
        </p:spPr>
        <p:txBody>
          <a:bodyPr wrap="square" rtlCol="0">
            <a:spAutoFit/>
          </a:bodyPr>
          <a:lstStyle/>
          <a:p>
            <a:r>
              <a:rPr lang="en-US" sz="9600" dirty="0"/>
              <a:t>Thank You</a:t>
            </a:r>
            <a:endParaRPr lang="en-US" sz="96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Parallax</Template>
  <TotalTime>0</TotalTime>
  <Words>6574</Words>
  <Application>WPS Presentation</Application>
  <PresentationFormat>On-screen Show (4:3)</PresentationFormat>
  <Paragraphs>322</Paragraphs>
  <Slides>22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22</vt:i4>
      </vt:variant>
    </vt:vector>
  </HeadingPairs>
  <TitlesOfParts>
    <vt:vector size="32" baseType="lpstr">
      <vt:lpstr>Arial</vt:lpstr>
      <vt:lpstr>SimSun</vt:lpstr>
      <vt:lpstr>Wingdings</vt:lpstr>
      <vt:lpstr>Arial</vt:lpstr>
      <vt:lpstr>Calibri</vt:lpstr>
      <vt:lpstr>Times New Roman</vt:lpstr>
      <vt:lpstr>Corbel</vt:lpstr>
      <vt:lpstr>Microsoft YaHei</vt:lpstr>
      <vt:lpstr>Arial Unicode MS</vt:lpstr>
      <vt:lpstr>Parallax</vt:lpstr>
      <vt:lpstr>PowerPoint 演示文稿</vt:lpstr>
      <vt:lpstr>Introduction</vt:lpstr>
      <vt:lpstr>PowerPoint 演示文稿</vt:lpstr>
      <vt:lpstr>Lab Setup Overview</vt:lpstr>
      <vt:lpstr>PowerPoint 演示文稿</vt:lpstr>
      <vt:lpstr>Network Topology Diagram</vt:lpstr>
      <vt:lpstr>Web Server (Apache2 + HTTPS)</vt:lpstr>
      <vt:lpstr>PowerPoint 演示文稿</vt:lpstr>
      <vt:lpstr>PowerPoint 演示文稿</vt:lpstr>
      <vt:lpstr>DNS Server (Bind9)</vt:lpstr>
      <vt:lpstr>PowerPoint 演示文稿</vt:lpstr>
      <vt:lpstr>PowerPoint 演示文稿</vt:lpstr>
      <vt:lpstr>Mail Server (Postfix)</vt:lpstr>
      <vt:lpstr>PowerPoint 演示文稿</vt:lpstr>
      <vt:lpstr>FTP Server (vsftpd)</vt:lpstr>
      <vt:lpstr>PowerPoint 演示文稿</vt:lpstr>
      <vt:lpstr>Security Hardening</vt:lpstr>
      <vt:lpstr>PowerPoint 演示文稿</vt:lpstr>
      <vt:lpstr>Challenges &amp; Solutions</vt:lpstr>
      <vt:lpstr>Conclusion</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Hetal</cp:lastModifiedBy>
  <cp:revision>43</cp:revision>
  <dcterms:created xsi:type="dcterms:W3CDTF">2013-01-27T09:14:00Z</dcterms:created>
  <dcterms:modified xsi:type="dcterms:W3CDTF">2025-12-16T16:30:38Z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86F6B261B23A45FB88BDCE3A53D2D5FA_12</vt:lpwstr>
  </property>
  <property fmtid="{D5CDD505-2E9C-101B-9397-08002B2CF9AE}" pid="3" name="KSOProductBuildVer">
    <vt:lpwstr>1033-12.2.0.23155</vt:lpwstr>
  </property>
</Properties>
</file>